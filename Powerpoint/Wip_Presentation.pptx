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1" r:id="rId10"/>
    <p:sldId id="273" r:id="rId11"/>
    <p:sldId id="264" r:id="rId12"/>
    <p:sldId id="272" r:id="rId13"/>
    <p:sldId id="265" r:id="rId14"/>
    <p:sldId id="266" r:id="rId15"/>
    <p:sldId id="267" r:id="rId16"/>
    <p:sldId id="268" r:id="rId17"/>
    <p:sldId id="269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905151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A9B9B-6EF0-1907-E131-E584C9DD1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0F9B74-BF4D-53D7-8CD4-6976714700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B4FEF3-D749-1D30-EFC7-00C86D3BB9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225CDA-995A-44B5-43DB-092D5CF27F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0040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889A86-3B26-80B5-1CB6-BB5EBE793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993B9E-3A4E-C6D4-E881-A04B84E877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3A015A5-8D95-A2E4-FA2F-E3975CCAAE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57C57B-8D8A-70D3-9CD8-1685E4A2F4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6891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0F9B8E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" name="Shape 1"/>
          <p:cNvSpPr/>
          <p:nvPr/>
        </p:nvSpPr>
        <p:spPr>
          <a:xfrm>
            <a:off x="5943600" y="0"/>
            <a:ext cx="320040" cy="5143500"/>
          </a:xfrm>
          <a:prstGeom prst="rect">
            <a:avLst/>
          </a:prstGeom>
          <a:solidFill>
            <a:srgbClr val="14C4B0">
              <a:alpha val="60000"/>
            </a:srgbClr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7200" b="1" kern="0" spc="400" noProof="0" dirty="0" err="1">
                <a:solidFill>
                  <a:srgbClr val="14C4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Wip</a:t>
            </a:r>
            <a:r>
              <a:rPr lang="fr-FR" sz="7200" b="1" kern="0" spc="400" noProof="0" dirty="0">
                <a:solidFill>
                  <a:srgbClr val="14C4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.</a:t>
            </a:r>
            <a:endParaRPr lang="fr-FR" sz="7200" noProof="0" dirty="0"/>
          </a:p>
        </p:txBody>
      </p:sp>
      <p:sp>
        <p:nvSpPr>
          <p:cNvPr id="5" name="Text 3"/>
          <p:cNvSpPr/>
          <p:nvPr/>
        </p:nvSpPr>
        <p:spPr>
          <a:xfrm>
            <a:off x="731520" y="256032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2200" i="1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in Progress</a:t>
            </a:r>
            <a:endParaRPr lang="fr-FR" sz="2200" noProof="0" dirty="0"/>
          </a:p>
        </p:txBody>
      </p:sp>
      <p:sp>
        <p:nvSpPr>
          <p:cNvPr id="6" name="Text 4"/>
          <p:cNvSpPr/>
          <p:nvPr/>
        </p:nvSpPr>
        <p:spPr>
          <a:xfrm>
            <a:off x="731520" y="329184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6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 Projet × MCP</a:t>
            </a:r>
            <a:endParaRPr lang="fr-FR" sz="1600" noProof="0" dirty="0"/>
          </a:p>
        </p:txBody>
      </p:sp>
      <p:sp>
        <p:nvSpPr>
          <p:cNvPr id="7" name="Text 5"/>
          <p:cNvSpPr/>
          <p:nvPr/>
        </p:nvSpPr>
        <p:spPr>
          <a:xfrm>
            <a:off x="731520" y="402336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fr-FR" sz="12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48H — Rennes </a:t>
            </a:r>
            <a:r>
              <a:rPr lang="fr-FR" sz="12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Ynov</a:t>
            </a:r>
            <a:r>
              <a:rPr lang="fr-FR" sz="12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Campus</a:t>
            </a:r>
            <a:endParaRPr lang="fr-FR" sz="1200" noProof="0" dirty="0"/>
          </a:p>
          <a:p>
            <a:pPr marL="0" indent="0">
              <a:lnSpc>
                <a:spcPct val="140000"/>
              </a:lnSpc>
              <a:buNone/>
            </a:pPr>
            <a:r>
              <a:rPr lang="fr-FR" sz="12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&amp; 31 Mars 2026</a:t>
            </a:r>
            <a:endParaRPr lang="fr-FR" sz="1200" noProof="0" dirty="0"/>
          </a:p>
        </p:txBody>
      </p:sp>
      <p:sp>
        <p:nvSpPr>
          <p:cNvPr id="8" name="Text 6"/>
          <p:cNvSpPr/>
          <p:nvPr/>
        </p:nvSpPr>
        <p:spPr>
          <a:xfrm>
            <a:off x="6492240" y="182880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80000"/>
              </a:lnSpc>
              <a:buNone/>
            </a:pPr>
            <a:r>
              <a:rPr lang="fr-FR" sz="16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Nathan</a:t>
            </a:r>
            <a:endParaRPr lang="fr-FR" sz="1600" noProof="0" dirty="0"/>
          </a:p>
          <a:p>
            <a:pPr marL="0" indent="0" algn="ctr">
              <a:lnSpc>
                <a:spcPct val="180000"/>
              </a:lnSpc>
              <a:buNone/>
            </a:pPr>
            <a:r>
              <a:rPr lang="fr-FR" sz="1600" b="1" noProof="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Tyfenn</a:t>
            </a:r>
            <a:endParaRPr lang="fr-FR" sz="1600" noProof="0" dirty="0"/>
          </a:p>
          <a:p>
            <a:pPr marL="0" indent="0" algn="ctr">
              <a:lnSpc>
                <a:spcPct val="180000"/>
              </a:lnSpc>
              <a:buNone/>
            </a:pPr>
            <a:r>
              <a:rPr lang="fr-FR" sz="16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Aimeric</a:t>
            </a:r>
            <a:endParaRPr lang="fr-FR" sz="1600" noProof="0" dirty="0"/>
          </a:p>
          <a:p>
            <a:pPr marL="0" indent="0" algn="ctr">
              <a:lnSpc>
                <a:spcPct val="180000"/>
              </a:lnSpc>
              <a:buNone/>
            </a:pPr>
            <a:r>
              <a:rPr lang="fr-FR" sz="16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Enzo</a:t>
            </a:r>
            <a:endParaRPr lang="fr-FR" sz="1600" noProof="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54864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F9B8E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" name="Text 1"/>
          <p:cNvSpPr/>
          <p:nvPr/>
        </p:nvSpPr>
        <p:spPr>
          <a:xfrm>
            <a:off x="731520" y="320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3600" b="1" noProof="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Sommaire</a:t>
            </a:r>
            <a:endParaRPr lang="fr-FR" sz="3600" noProof="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353312"/>
            <a:ext cx="201168" cy="20116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3000" y="12801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400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Rappel du sujet</a:t>
            </a:r>
            <a:endParaRPr lang="fr-FR" sz="1400" noProof="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883664"/>
            <a:ext cx="201168" cy="20116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43000" y="181051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400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Contexte du projet</a:t>
            </a:r>
            <a:endParaRPr lang="fr-FR" sz="1400" noProof="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414016"/>
            <a:ext cx="201168" cy="20116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143000" y="2340864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400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Définition MCP</a:t>
            </a:r>
            <a:endParaRPr lang="fr-FR" sz="1400" noProof="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944368"/>
            <a:ext cx="201168" cy="20116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143000" y="2871216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400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Démo du site</a:t>
            </a:r>
            <a:endParaRPr lang="fr-FR" sz="1400" noProof="0" dirty="0"/>
          </a:p>
        </p:txBody>
      </p:sp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474720"/>
            <a:ext cx="201168" cy="201168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1143000" y="340156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400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Limites du site</a:t>
            </a:r>
            <a:endParaRPr lang="fr-FR" sz="1400" noProof="0" dirty="0"/>
          </a:p>
        </p:txBody>
      </p:sp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005072"/>
            <a:ext cx="201168" cy="201168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143000" y="39319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400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Démo Claude MCP</a:t>
            </a:r>
            <a:endParaRPr lang="fr-FR" sz="1400" noProof="0" dirty="0"/>
          </a:p>
        </p:txBody>
      </p:sp>
      <p:pic>
        <p:nvPicPr>
          <p:cNvPr id="16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353312"/>
            <a:ext cx="201168" cy="201168"/>
          </a:xfrm>
          <a:prstGeom prst="rect">
            <a:avLst/>
          </a:prstGeom>
        </p:spPr>
      </p:pic>
      <p:sp>
        <p:nvSpPr>
          <p:cNvPr id="17" name="Text 8"/>
          <p:cNvSpPr/>
          <p:nvPr/>
        </p:nvSpPr>
        <p:spPr>
          <a:xfrm>
            <a:off x="5166360" y="12801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400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Stack technique</a:t>
            </a:r>
            <a:endParaRPr lang="fr-FR" sz="1400" noProof="0" dirty="0"/>
          </a:p>
        </p:txBody>
      </p:sp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883664"/>
            <a:ext cx="201168" cy="201168"/>
          </a:xfrm>
          <a:prstGeom prst="rect">
            <a:avLst/>
          </a:prstGeom>
        </p:spPr>
      </p:pic>
      <p:sp>
        <p:nvSpPr>
          <p:cNvPr id="19" name="Text 9"/>
          <p:cNvSpPr/>
          <p:nvPr/>
        </p:nvSpPr>
        <p:spPr>
          <a:xfrm>
            <a:off x="5166360" y="1810512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400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Problèmes rencontrés</a:t>
            </a:r>
            <a:endParaRPr lang="fr-FR" sz="1400" noProof="0" dirty="0"/>
          </a:p>
        </p:txBody>
      </p:sp>
      <p:pic>
        <p:nvPicPr>
          <p:cNvPr id="20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414016"/>
            <a:ext cx="201168" cy="201168"/>
          </a:xfrm>
          <a:prstGeom prst="rect">
            <a:avLst/>
          </a:prstGeom>
        </p:spPr>
      </p:pic>
      <p:sp>
        <p:nvSpPr>
          <p:cNvPr id="21" name="Text 10"/>
          <p:cNvSpPr/>
          <p:nvPr/>
        </p:nvSpPr>
        <p:spPr>
          <a:xfrm>
            <a:off x="5166360" y="2340864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400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Solutions apportées</a:t>
            </a:r>
            <a:endParaRPr lang="fr-FR" sz="1400" noProof="0" dirty="0"/>
          </a:p>
        </p:txBody>
      </p:sp>
      <p:pic>
        <p:nvPicPr>
          <p:cNvPr id="22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944368"/>
            <a:ext cx="201168" cy="201168"/>
          </a:xfrm>
          <a:prstGeom prst="rect">
            <a:avLst/>
          </a:prstGeom>
        </p:spPr>
      </p:pic>
      <p:sp>
        <p:nvSpPr>
          <p:cNvPr id="23" name="Text 11"/>
          <p:cNvSpPr/>
          <p:nvPr/>
        </p:nvSpPr>
        <p:spPr>
          <a:xfrm>
            <a:off x="5166360" y="2871216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400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</a:t>
            </a:r>
            <a:r>
              <a:rPr lang="fr-FR" sz="1400" noProof="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r>
              <a:rPr lang="fr-FR" sz="1400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bonus</a:t>
            </a:r>
            <a:endParaRPr lang="fr-FR" sz="1400" noProof="0" dirty="0"/>
          </a:p>
        </p:txBody>
      </p:sp>
      <p:pic>
        <p:nvPicPr>
          <p:cNvPr id="24" name="Image 1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3474720"/>
            <a:ext cx="201168" cy="201168"/>
          </a:xfrm>
          <a:prstGeom prst="rect">
            <a:avLst/>
          </a:prstGeom>
        </p:spPr>
      </p:pic>
      <p:sp>
        <p:nvSpPr>
          <p:cNvPr id="25" name="Text 12"/>
          <p:cNvSpPr/>
          <p:nvPr/>
        </p:nvSpPr>
        <p:spPr>
          <a:xfrm>
            <a:off x="5166360" y="3401568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400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 Avenir du projet</a:t>
            </a:r>
            <a:endParaRPr lang="fr-FR" sz="1400" noProof="0" dirty="0"/>
          </a:p>
        </p:txBody>
      </p:sp>
      <p:pic>
        <p:nvPicPr>
          <p:cNvPr id="26" name="Image 1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4005072"/>
            <a:ext cx="201168" cy="201168"/>
          </a:xfrm>
          <a:prstGeom prst="rect">
            <a:avLst/>
          </a:prstGeom>
        </p:spPr>
      </p:pic>
      <p:sp>
        <p:nvSpPr>
          <p:cNvPr id="27" name="Text 13"/>
          <p:cNvSpPr/>
          <p:nvPr/>
        </p:nvSpPr>
        <p:spPr>
          <a:xfrm>
            <a:off x="5166360" y="39319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400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 Conclusion</a:t>
            </a:r>
            <a:endParaRPr lang="fr-FR" sz="1400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F9B8E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" name="Text 1"/>
          <p:cNvSpPr/>
          <p:nvPr/>
        </p:nvSpPr>
        <p:spPr>
          <a:xfrm>
            <a:off x="731520" y="320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3600" b="1" noProof="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Rappel du sujet</a:t>
            </a:r>
            <a:endParaRPr lang="fr-FR" sz="3600" noProof="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3749040" cy="3108960"/>
          </a:xfrm>
          <a:prstGeom prst="rect">
            <a:avLst/>
          </a:prstGeom>
          <a:solidFill>
            <a:srgbClr val="F0F4F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3749040" cy="594360"/>
          </a:xfrm>
          <a:prstGeom prst="rect">
            <a:avLst/>
          </a:prstGeom>
          <a:solidFill>
            <a:srgbClr val="0F9B8E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37160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28016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Pilier 1 — Application Web</a:t>
            </a:r>
            <a:endParaRPr lang="fr-FR" sz="1400" noProof="0" dirty="0"/>
          </a:p>
        </p:txBody>
      </p:sp>
      <p:sp>
        <p:nvSpPr>
          <p:cNvPr id="8" name="Text 5"/>
          <p:cNvSpPr/>
          <p:nvPr/>
        </p:nvSpPr>
        <p:spPr>
          <a:xfrm>
            <a:off x="822960" y="2057400"/>
            <a:ext cx="32004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fr-FR" sz="1300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(email/</a:t>
            </a:r>
            <a:r>
              <a:rPr lang="fr-FR" sz="1300" noProof="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mdp</a:t>
            </a:r>
            <a:r>
              <a:rPr lang="fr-FR" sz="1300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fr-FR" sz="1300" noProof="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fr-FR" sz="1300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de projets &amp; membres</a:t>
            </a:r>
            <a:endParaRPr lang="fr-FR" sz="1300" noProof="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fr-FR" sz="1300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tâches + statuts</a:t>
            </a:r>
            <a:endParaRPr lang="fr-FR" sz="1300" noProof="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fr-FR" sz="1300" noProof="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</a:t>
            </a:r>
            <a:r>
              <a:rPr lang="fr-FR" sz="1300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Kanban visuel</a:t>
            </a:r>
            <a:endParaRPr lang="fr-FR" sz="1300" noProof="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fr-FR" sz="1300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 progression</a:t>
            </a:r>
            <a:endParaRPr lang="fr-FR" sz="1300" noProof="0" dirty="0"/>
          </a:p>
        </p:txBody>
      </p:sp>
      <p:sp>
        <p:nvSpPr>
          <p:cNvPr id="9" name="Shape 6"/>
          <p:cNvSpPr/>
          <p:nvPr/>
        </p:nvSpPr>
        <p:spPr>
          <a:xfrm>
            <a:off x="4846320" y="1280160"/>
            <a:ext cx="3749040" cy="3108960"/>
          </a:xfrm>
          <a:prstGeom prst="rect">
            <a:avLst/>
          </a:prstGeom>
          <a:solidFill>
            <a:srgbClr val="F0F4F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0" name="Shape 7"/>
          <p:cNvSpPr/>
          <p:nvPr/>
        </p:nvSpPr>
        <p:spPr>
          <a:xfrm>
            <a:off x="4846320" y="1280160"/>
            <a:ext cx="3749040" cy="594360"/>
          </a:xfrm>
          <a:prstGeom prst="rect">
            <a:avLst/>
          </a:prstGeom>
          <a:solidFill>
            <a:srgbClr val="0A7A6F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4920" y="137160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32120" y="1280160"/>
            <a:ext cx="2926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4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Pilier 2 — Serveur MCP</a:t>
            </a:r>
            <a:endParaRPr lang="fr-FR" sz="1400" noProof="0" dirty="0"/>
          </a:p>
        </p:txBody>
      </p:sp>
      <p:sp>
        <p:nvSpPr>
          <p:cNvPr id="13" name="Text 9"/>
          <p:cNvSpPr/>
          <p:nvPr/>
        </p:nvSpPr>
        <p:spPr>
          <a:xfrm>
            <a:off x="5120640" y="2057400"/>
            <a:ext cx="320040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fr-FR" sz="1300" noProof="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list_projects</a:t>
            </a:r>
            <a:r>
              <a:rPr lang="fr-FR" sz="1300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fr-FR" sz="1300" noProof="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list_tasks</a:t>
            </a:r>
            <a:endParaRPr lang="fr-FR" sz="1300" noProof="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fr-FR" sz="1300" noProof="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create_task</a:t>
            </a:r>
            <a:r>
              <a:rPr lang="fr-FR" sz="1300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fr-FR" sz="1300" noProof="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update_task</a:t>
            </a:r>
            <a:endParaRPr lang="fr-FR" sz="1300" noProof="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fr-FR" sz="1300" noProof="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get_project_summary</a:t>
            </a:r>
            <a:endParaRPr lang="fr-FR" sz="1300" noProof="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fr-FR" sz="1300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project://&lt;id&gt;</a:t>
            </a:r>
            <a:endParaRPr lang="fr-FR" sz="1300" noProof="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fr-FR" sz="1300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(standup, rétro...)</a:t>
            </a:r>
            <a:endParaRPr lang="fr-FR" sz="1300" noProof="0" dirty="0"/>
          </a:p>
        </p:txBody>
      </p:sp>
      <p:sp>
        <p:nvSpPr>
          <p:cNvPr id="14" name="Text 10"/>
          <p:cNvSpPr/>
          <p:nvPr/>
        </p:nvSpPr>
        <p:spPr>
          <a:xfrm>
            <a:off x="548640" y="457200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100" i="1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Contrainte : 48h | Livrables : App + Démo live + Pitch 10 min</a:t>
            </a:r>
            <a:endParaRPr lang="fr-FR" sz="1100" noProof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F9B8E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" name="Text 1"/>
          <p:cNvSpPr/>
          <p:nvPr/>
        </p:nvSpPr>
        <p:spPr>
          <a:xfrm>
            <a:off x="731520" y="320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3600" b="1" noProof="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Contexte du projet</a:t>
            </a:r>
            <a:endParaRPr lang="fr-FR" sz="3600" noProof="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8046720" cy="73152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73152" cy="731520"/>
          </a:xfrm>
          <a:prstGeom prst="rect">
            <a:avLst/>
          </a:prstGeom>
          <a:solidFill>
            <a:srgbClr val="0F9B8E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6" name="Text 4"/>
          <p:cNvSpPr/>
          <p:nvPr/>
        </p:nvSpPr>
        <p:spPr>
          <a:xfrm>
            <a:off x="822960" y="1188720"/>
            <a:ext cx="7589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i="1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"Je ferais un Trello..." — Parole célèbre d'étudiant, 2 jours avant l'abandon du </a:t>
            </a:r>
            <a:r>
              <a:rPr lang="fr-FR" sz="1300" i="1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</a:t>
            </a:r>
            <a:r>
              <a:rPr lang="fr-FR" sz="1300" i="1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fr-FR" sz="1300" noProof="0" dirty="0"/>
          </a:p>
        </p:txBody>
      </p:sp>
      <p:sp>
        <p:nvSpPr>
          <p:cNvPr id="7" name="Shape 5"/>
          <p:cNvSpPr/>
          <p:nvPr/>
        </p:nvSpPr>
        <p:spPr>
          <a:xfrm>
            <a:off x="548640" y="2286000"/>
            <a:ext cx="2606040" cy="2286000"/>
          </a:xfrm>
          <a:prstGeom prst="rect">
            <a:avLst/>
          </a:prstGeom>
          <a:solidFill>
            <a:srgbClr val="F0F4F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8" name="Shape 6"/>
          <p:cNvSpPr/>
          <p:nvPr/>
        </p:nvSpPr>
        <p:spPr>
          <a:xfrm>
            <a:off x="548640" y="2286000"/>
            <a:ext cx="2606040" cy="54864"/>
          </a:xfrm>
          <a:prstGeom prst="rect">
            <a:avLst/>
          </a:prstGeom>
          <a:solidFill>
            <a:srgbClr val="0F9B8E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2514600"/>
            <a:ext cx="502920" cy="5029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85800" y="31089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400" b="1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Friction élevée</a:t>
            </a:r>
            <a:endParaRPr lang="fr-FR" sz="1400" noProof="0" dirty="0"/>
          </a:p>
        </p:txBody>
      </p:sp>
      <p:sp>
        <p:nvSpPr>
          <p:cNvPr id="11" name="Text 8"/>
          <p:cNvSpPr/>
          <p:nvPr/>
        </p:nvSpPr>
        <p:spPr>
          <a:xfrm>
            <a:off x="685800" y="3520440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fr-FR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Trop d'étapes pour une action simple. Les étudiants abandonnent vite.</a:t>
            </a:r>
            <a:endParaRPr lang="fr-FR" sz="1100" noProof="0" dirty="0"/>
          </a:p>
        </p:txBody>
      </p:sp>
      <p:sp>
        <p:nvSpPr>
          <p:cNvPr id="12" name="Shape 9"/>
          <p:cNvSpPr/>
          <p:nvPr/>
        </p:nvSpPr>
        <p:spPr>
          <a:xfrm>
            <a:off x="3383280" y="2286000"/>
            <a:ext cx="2606040" cy="2286000"/>
          </a:xfrm>
          <a:prstGeom prst="rect">
            <a:avLst/>
          </a:prstGeom>
          <a:solidFill>
            <a:srgbClr val="F0F4F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3" name="Shape 10"/>
          <p:cNvSpPr/>
          <p:nvPr/>
        </p:nvSpPr>
        <p:spPr>
          <a:xfrm>
            <a:off x="3383280" y="2286000"/>
            <a:ext cx="2606040" cy="54864"/>
          </a:xfrm>
          <a:prstGeom prst="rect">
            <a:avLst/>
          </a:prstGeom>
          <a:solidFill>
            <a:srgbClr val="0F9B8E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2514600"/>
            <a:ext cx="502920" cy="5029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520440" y="31089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400" b="1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Déconnecté du code</a:t>
            </a:r>
            <a:endParaRPr lang="fr-FR" sz="1400" noProof="0" dirty="0"/>
          </a:p>
        </p:txBody>
      </p:sp>
      <p:sp>
        <p:nvSpPr>
          <p:cNvPr id="16" name="Text 12"/>
          <p:cNvSpPr/>
          <p:nvPr/>
        </p:nvSpPr>
        <p:spPr>
          <a:xfrm>
            <a:off x="3520440" y="3520440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fr-FR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L'outil de gestion vit dans un onglet, le code dans un autre. Aucun lien.</a:t>
            </a:r>
            <a:endParaRPr lang="fr-FR" sz="1100" noProof="0" dirty="0"/>
          </a:p>
        </p:txBody>
      </p:sp>
      <p:sp>
        <p:nvSpPr>
          <p:cNvPr id="17" name="Shape 13"/>
          <p:cNvSpPr/>
          <p:nvPr/>
        </p:nvSpPr>
        <p:spPr>
          <a:xfrm>
            <a:off x="6217920" y="2286000"/>
            <a:ext cx="2606040" cy="2286000"/>
          </a:xfrm>
          <a:prstGeom prst="rect">
            <a:avLst/>
          </a:prstGeom>
          <a:solidFill>
            <a:srgbClr val="F0F4F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8" name="Shape 14"/>
          <p:cNvSpPr/>
          <p:nvPr/>
        </p:nvSpPr>
        <p:spPr>
          <a:xfrm>
            <a:off x="6217920" y="2286000"/>
            <a:ext cx="2606040" cy="54864"/>
          </a:xfrm>
          <a:prstGeom prst="rect">
            <a:avLst/>
          </a:prstGeom>
          <a:solidFill>
            <a:srgbClr val="0F9B8E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23760" y="2514600"/>
            <a:ext cx="502920" cy="5029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355080" y="310896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fr-FR" sz="1400" b="1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Rythme inadapté</a:t>
            </a:r>
            <a:endParaRPr lang="fr-FR" sz="1400" noProof="0" dirty="0"/>
          </a:p>
        </p:txBody>
      </p:sp>
      <p:sp>
        <p:nvSpPr>
          <p:cNvPr id="21" name="Text 16"/>
          <p:cNvSpPr/>
          <p:nvPr/>
        </p:nvSpPr>
        <p:spPr>
          <a:xfrm>
            <a:off x="6355080" y="3520440"/>
            <a:ext cx="2331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fr-FR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de 2 semaines ? Les projets étudiants durent de 3 jours à 3 mois.</a:t>
            </a:r>
            <a:endParaRPr lang="fr-FR" sz="1100" noProof="0" dirty="0"/>
          </a:p>
        </p:txBody>
      </p:sp>
      <p:sp>
        <p:nvSpPr>
          <p:cNvPr id="22" name="Text 17"/>
          <p:cNvSpPr/>
          <p:nvPr/>
        </p:nvSpPr>
        <p:spPr>
          <a:xfrm>
            <a:off x="548640" y="47091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200" b="1" noProof="0" dirty="0">
                <a:solidFill>
                  <a:srgbClr val="0F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Notre solution : </a:t>
            </a:r>
            <a:r>
              <a:rPr lang="fr-FR" sz="1200" b="1" noProof="0" dirty="0" err="1">
                <a:solidFill>
                  <a:srgbClr val="0F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Wip</a:t>
            </a:r>
            <a:r>
              <a:rPr lang="fr-FR" sz="1200" b="1" noProof="0" dirty="0">
                <a:solidFill>
                  <a:srgbClr val="0F9B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— Une app couplée à l'IA via MCP pour zéro friction.</a:t>
            </a:r>
            <a:endParaRPr lang="fr-FR" sz="1200" noProof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3600" b="1" noProof="0" dirty="0">
                <a:solidFill>
                  <a:srgbClr val="14C4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Qu'est-ce que le MCP ?</a:t>
            </a:r>
            <a:endParaRPr lang="fr-FR" sz="3600" noProof="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300" i="1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</a:t>
            </a:r>
            <a:r>
              <a:rPr lang="fr-FR" sz="1300" i="1" noProof="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r>
              <a:rPr lang="fr-FR" sz="1300" i="1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Protocol — protocole ouvert créé par </a:t>
            </a:r>
            <a:r>
              <a:rPr lang="fr-FR" sz="1300" i="1" noProof="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fr-FR" sz="1300" noProof="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06040" cy="3017520"/>
          </a:xfrm>
          <a:prstGeom prst="rect">
            <a:avLst/>
          </a:prstGeom>
          <a:solidFill>
            <a:srgbClr val="16213E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2606040" cy="502920"/>
          </a:xfrm>
          <a:prstGeom prst="rect">
            <a:avLst/>
          </a:prstGeom>
          <a:solidFill>
            <a:srgbClr val="0F9B8E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6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Tool</a:t>
            </a:r>
            <a:endParaRPr lang="fr-FR" sz="1600" noProof="0" dirty="0"/>
          </a:p>
        </p:txBody>
      </p:sp>
      <p:sp>
        <p:nvSpPr>
          <p:cNvPr id="7" name="Text 5"/>
          <p:cNvSpPr/>
          <p:nvPr/>
        </p:nvSpPr>
        <p:spPr>
          <a:xfrm>
            <a:off x="731520" y="2240280"/>
            <a:ext cx="22402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fr-FR" sz="12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 exécutée par l'IA</a:t>
            </a:r>
            <a:endParaRPr lang="fr-FR" sz="1200" noProof="0" dirty="0"/>
          </a:p>
          <a:p>
            <a:pPr marL="0" indent="0">
              <a:lnSpc>
                <a:spcPct val="140000"/>
              </a:lnSpc>
              <a:buNone/>
            </a:pPr>
            <a:endParaRPr lang="fr-FR" sz="1200" noProof="0" dirty="0"/>
          </a:p>
          <a:p>
            <a:pPr marL="0" indent="0">
              <a:lnSpc>
                <a:spcPct val="140000"/>
              </a:lnSpc>
              <a:buNone/>
            </a:pPr>
            <a:r>
              <a:rPr lang="fr-FR" sz="1200" noProof="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create_task</a:t>
            </a:r>
            <a:endParaRPr lang="fr-FR" sz="1200" noProof="0" dirty="0"/>
          </a:p>
          <a:p>
            <a:pPr marL="0" indent="0">
              <a:lnSpc>
                <a:spcPct val="140000"/>
              </a:lnSpc>
              <a:buNone/>
            </a:pPr>
            <a:r>
              <a:rPr lang="fr-FR" sz="1200" noProof="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update_task</a:t>
            </a:r>
            <a:endParaRPr lang="fr-FR" sz="1200" noProof="0" dirty="0"/>
          </a:p>
          <a:p>
            <a:pPr marL="0" indent="0">
              <a:lnSpc>
                <a:spcPct val="140000"/>
              </a:lnSpc>
              <a:buNone/>
            </a:pPr>
            <a:r>
              <a:rPr lang="fr-FR" sz="1200" noProof="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assign_member</a:t>
            </a:r>
            <a:endParaRPr lang="fr-FR" sz="1200" noProof="0" dirty="0"/>
          </a:p>
        </p:txBody>
      </p:sp>
      <p:sp>
        <p:nvSpPr>
          <p:cNvPr id="8" name="Shape 6"/>
          <p:cNvSpPr/>
          <p:nvPr/>
        </p:nvSpPr>
        <p:spPr>
          <a:xfrm>
            <a:off x="3383280" y="1554480"/>
            <a:ext cx="2606040" cy="3017520"/>
          </a:xfrm>
          <a:prstGeom prst="rect">
            <a:avLst/>
          </a:prstGeom>
          <a:solidFill>
            <a:srgbClr val="16213E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9" name="Shape 7"/>
          <p:cNvSpPr/>
          <p:nvPr/>
        </p:nvSpPr>
        <p:spPr>
          <a:xfrm>
            <a:off x="3383280" y="1554480"/>
            <a:ext cx="2606040" cy="502920"/>
          </a:xfrm>
          <a:prstGeom prst="rect">
            <a:avLst/>
          </a:prstGeom>
          <a:solidFill>
            <a:srgbClr val="0A7A6F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0" name="Text 8"/>
          <p:cNvSpPr/>
          <p:nvPr/>
        </p:nvSpPr>
        <p:spPr>
          <a:xfrm>
            <a:off x="3383280" y="155448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6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Resource</a:t>
            </a:r>
            <a:endParaRPr lang="fr-FR" sz="1600" noProof="0" dirty="0"/>
          </a:p>
        </p:txBody>
      </p:sp>
      <p:sp>
        <p:nvSpPr>
          <p:cNvPr id="11" name="Text 9"/>
          <p:cNvSpPr/>
          <p:nvPr/>
        </p:nvSpPr>
        <p:spPr>
          <a:xfrm>
            <a:off x="3566160" y="2240280"/>
            <a:ext cx="22402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fr-FR" sz="12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 structurée lue par l'IA</a:t>
            </a:r>
            <a:endParaRPr lang="fr-FR" sz="1200" noProof="0" dirty="0"/>
          </a:p>
          <a:p>
            <a:pPr marL="0" indent="0">
              <a:lnSpc>
                <a:spcPct val="140000"/>
              </a:lnSpc>
              <a:buNone/>
            </a:pPr>
            <a:endParaRPr lang="fr-FR" sz="1200" noProof="0" dirty="0"/>
          </a:p>
          <a:p>
            <a:pPr marL="0" indent="0">
              <a:lnSpc>
                <a:spcPct val="140000"/>
              </a:lnSpc>
              <a:buNone/>
            </a:pPr>
            <a:r>
              <a:rPr lang="fr-FR" sz="12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project://&lt;id&gt;</a:t>
            </a:r>
            <a:endParaRPr lang="fr-FR" sz="1200" noProof="0" dirty="0"/>
          </a:p>
          <a:p>
            <a:pPr marL="0" indent="0">
              <a:lnSpc>
                <a:spcPct val="140000"/>
              </a:lnSpc>
              <a:buNone/>
            </a:pPr>
            <a:r>
              <a:rPr lang="fr-FR" sz="12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données complètes du projet</a:t>
            </a:r>
            <a:endParaRPr lang="fr-FR" sz="1200" noProof="0" dirty="0"/>
          </a:p>
        </p:txBody>
      </p:sp>
      <p:sp>
        <p:nvSpPr>
          <p:cNvPr id="12" name="Shape 10"/>
          <p:cNvSpPr/>
          <p:nvPr/>
        </p:nvSpPr>
        <p:spPr>
          <a:xfrm>
            <a:off x="6217920" y="1554480"/>
            <a:ext cx="2606040" cy="3017520"/>
          </a:xfrm>
          <a:prstGeom prst="rect">
            <a:avLst/>
          </a:prstGeom>
          <a:solidFill>
            <a:srgbClr val="16213E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3" name="Shape 11"/>
          <p:cNvSpPr/>
          <p:nvPr/>
        </p:nvSpPr>
        <p:spPr>
          <a:xfrm>
            <a:off x="6217920" y="1554480"/>
            <a:ext cx="2606040" cy="502920"/>
          </a:xfrm>
          <a:prstGeom prst="rect">
            <a:avLst/>
          </a:prstGeom>
          <a:solidFill>
            <a:srgbClr val="0A6B62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4" name="Text 12"/>
          <p:cNvSpPr/>
          <p:nvPr/>
        </p:nvSpPr>
        <p:spPr>
          <a:xfrm>
            <a:off x="6217920" y="155448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6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</a:t>
            </a:r>
            <a:endParaRPr lang="fr-FR" sz="1600" noProof="0" dirty="0"/>
          </a:p>
        </p:txBody>
      </p:sp>
      <p:sp>
        <p:nvSpPr>
          <p:cNvPr id="15" name="Text 13"/>
          <p:cNvSpPr/>
          <p:nvPr/>
        </p:nvSpPr>
        <p:spPr>
          <a:xfrm>
            <a:off x="6400800" y="2240280"/>
            <a:ext cx="22402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fr-FR" sz="12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de conversation</a:t>
            </a:r>
            <a:endParaRPr lang="fr-FR" sz="1200" noProof="0" dirty="0"/>
          </a:p>
          <a:p>
            <a:pPr marL="0" indent="0">
              <a:lnSpc>
                <a:spcPct val="140000"/>
              </a:lnSpc>
              <a:buNone/>
            </a:pPr>
            <a:endParaRPr lang="fr-FR" sz="1200" noProof="0" dirty="0"/>
          </a:p>
          <a:p>
            <a:pPr marL="0" indent="0">
              <a:lnSpc>
                <a:spcPct val="140000"/>
              </a:lnSpc>
              <a:buNone/>
            </a:pPr>
            <a:r>
              <a:rPr lang="fr-FR" sz="12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prompt://standup</a:t>
            </a:r>
            <a:endParaRPr lang="fr-FR" sz="1200" noProof="0" dirty="0"/>
          </a:p>
          <a:p>
            <a:pPr marL="0" indent="0">
              <a:lnSpc>
                <a:spcPct val="140000"/>
              </a:lnSpc>
              <a:buNone/>
            </a:pPr>
            <a:r>
              <a:rPr lang="fr-FR" sz="12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fr-FR" sz="1200" noProof="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</a:t>
            </a:r>
            <a:r>
              <a:rPr lang="fr-FR" sz="12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standup automatique</a:t>
            </a:r>
            <a:endParaRPr lang="fr-FR" sz="1200" noProof="0" dirty="0"/>
          </a:p>
        </p:txBody>
      </p:sp>
      <p:sp>
        <p:nvSpPr>
          <p:cNvPr id="16" name="Text 14"/>
          <p:cNvSpPr/>
          <p:nvPr/>
        </p:nvSpPr>
        <p:spPr>
          <a:xfrm>
            <a:off x="548640" y="47091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200" b="1" noProof="0" dirty="0">
                <a:solidFill>
                  <a:srgbClr val="14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MCP permet à Claude de piloter </a:t>
            </a:r>
            <a:r>
              <a:rPr lang="fr-FR" sz="1200" b="1" noProof="0" dirty="0" err="1">
                <a:solidFill>
                  <a:srgbClr val="14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Wip</a:t>
            </a:r>
            <a:r>
              <a:rPr lang="fr-FR" sz="1200" b="1" noProof="0" dirty="0">
                <a:solidFill>
                  <a:srgbClr val="14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en langage naturel, directement depuis le chat.</a:t>
            </a:r>
            <a:endParaRPr lang="fr-FR" sz="1200" noProof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0" y="1097280"/>
            <a:ext cx="5486400" cy="2926080"/>
          </a:xfrm>
          <a:prstGeom prst="rect">
            <a:avLst/>
          </a:prstGeom>
          <a:solidFill>
            <a:srgbClr val="16213E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" name="Shape 1"/>
          <p:cNvSpPr/>
          <p:nvPr/>
        </p:nvSpPr>
        <p:spPr>
          <a:xfrm>
            <a:off x="1828800" y="1097280"/>
            <a:ext cx="5486400" cy="54864"/>
          </a:xfrm>
          <a:prstGeom prst="rect">
            <a:avLst/>
          </a:prstGeom>
          <a:solidFill>
            <a:srgbClr val="0F9B8E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46304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0" y="237744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3600" b="1" noProof="0" dirty="0">
                <a:solidFill>
                  <a:srgbClr val="14C4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Démo du site</a:t>
            </a:r>
            <a:endParaRPr lang="fr-FR" sz="3600" noProof="0" dirty="0"/>
          </a:p>
        </p:txBody>
      </p:sp>
      <p:sp>
        <p:nvSpPr>
          <p:cNvPr id="6" name="Text 3"/>
          <p:cNvSpPr/>
          <p:nvPr/>
        </p:nvSpPr>
        <p:spPr>
          <a:xfrm>
            <a:off x="1828800" y="30175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4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Démonstration live de l'application web</a:t>
            </a:r>
            <a:endParaRPr lang="fr-FR" sz="1400" noProof="0" dirty="0"/>
          </a:p>
        </p:txBody>
      </p:sp>
      <p:sp>
        <p:nvSpPr>
          <p:cNvPr id="7" name="Text 4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2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Authentification → Dashboard → Kanban → Gestion de tâches</a:t>
            </a:r>
            <a:endParaRPr lang="fr-FR" sz="1200" noProof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F9B8E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" name="Text 1"/>
          <p:cNvSpPr/>
          <p:nvPr/>
        </p:nvSpPr>
        <p:spPr>
          <a:xfrm>
            <a:off x="731520" y="320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3600" b="1" noProof="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Limites du site</a:t>
            </a:r>
            <a:endParaRPr lang="fr-FR" sz="3600" noProof="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8046720" cy="54864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389888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280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Aucune visibilité sur la charge de travail — Les outils comme Trello ne détecte pas qu'un membre a 15 tâches en cours pendant qu'un autre en a 0 </a:t>
            </a:r>
            <a:endParaRPr lang="fr-FR" sz="1400" noProof="0" dirty="0"/>
          </a:p>
        </p:txBody>
      </p:sp>
      <p:sp>
        <p:nvSpPr>
          <p:cNvPr id="7" name="Shape 4"/>
          <p:cNvSpPr/>
          <p:nvPr/>
        </p:nvSpPr>
        <p:spPr>
          <a:xfrm>
            <a:off x="548640" y="1938528"/>
            <a:ext cx="804672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048256"/>
            <a:ext cx="320040" cy="3200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80160" y="1938528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Zéro contexte projet – On peut avoir des tâches existantes qui vont dans la mauvaise direction</a:t>
            </a:r>
            <a:endParaRPr lang="fr-FR" sz="1400" noProof="0" dirty="0"/>
          </a:p>
        </p:txBody>
      </p:sp>
      <p:sp>
        <p:nvSpPr>
          <p:cNvPr id="10" name="Shape 6"/>
          <p:cNvSpPr/>
          <p:nvPr/>
        </p:nvSpPr>
        <p:spPr>
          <a:xfrm>
            <a:off x="548640" y="2596896"/>
            <a:ext cx="8046720" cy="54864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706624"/>
            <a:ext cx="320040" cy="3200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80160" y="2596896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1400" dirty="0"/>
              <a:t>Chaque action nécessite l'interface — Créer une tâche, l'assigner, changer le statut : 3 clics minimum, à chaque fois </a:t>
            </a:r>
            <a:endParaRPr lang="fr-FR" sz="1400" noProof="0" dirty="0"/>
          </a:p>
        </p:txBody>
      </p:sp>
      <p:sp>
        <p:nvSpPr>
          <p:cNvPr id="13" name="Shape 8"/>
          <p:cNvSpPr/>
          <p:nvPr/>
        </p:nvSpPr>
        <p:spPr>
          <a:xfrm>
            <a:off x="548640" y="3255264"/>
            <a:ext cx="804672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3364992"/>
            <a:ext cx="320040" cy="32004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80160" y="3255264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standup automatique — Le </a:t>
            </a:r>
            <a:r>
              <a:rPr lang="fr-FR" sz="14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</a:t>
            </a:r>
            <a:r>
              <a:rPr lang="fr-FR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doit être rédigé manuellement en consultant le </a:t>
            </a:r>
            <a:r>
              <a:rPr lang="fr-FR" sz="14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</a:t>
            </a:r>
            <a:endParaRPr lang="fr-FR" sz="1400" noProof="0" dirty="0"/>
          </a:p>
        </p:txBody>
      </p:sp>
      <p:sp>
        <p:nvSpPr>
          <p:cNvPr id="16" name="Shape 10"/>
          <p:cNvSpPr/>
          <p:nvPr/>
        </p:nvSpPr>
        <p:spPr>
          <a:xfrm>
            <a:off x="548640" y="3913632"/>
            <a:ext cx="8046720" cy="54864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8" name="Text 11"/>
          <p:cNvSpPr/>
          <p:nvPr/>
        </p:nvSpPr>
        <p:spPr>
          <a:xfrm>
            <a:off x="1280160" y="3913632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fr-FR" sz="1400" noProof="0" dirty="0"/>
          </a:p>
        </p:txBody>
      </p:sp>
      <p:sp>
        <p:nvSpPr>
          <p:cNvPr id="19" name="Text 12"/>
          <p:cNvSpPr/>
          <p:nvPr/>
        </p:nvSpPr>
        <p:spPr>
          <a:xfrm>
            <a:off x="548640" y="47091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100" i="1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 limites sont identifiées et priorisées pour les prochaines itérations.</a:t>
            </a:r>
            <a:endParaRPr lang="fr-FR" sz="1100" noProof="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0" y="1097280"/>
            <a:ext cx="5486400" cy="2926080"/>
          </a:xfrm>
          <a:prstGeom prst="rect">
            <a:avLst/>
          </a:prstGeom>
          <a:solidFill>
            <a:srgbClr val="16213E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" name="Shape 1"/>
          <p:cNvSpPr/>
          <p:nvPr/>
        </p:nvSpPr>
        <p:spPr>
          <a:xfrm>
            <a:off x="1828800" y="1097280"/>
            <a:ext cx="5486400" cy="54864"/>
          </a:xfrm>
          <a:prstGeom prst="rect">
            <a:avLst/>
          </a:prstGeom>
          <a:solidFill>
            <a:srgbClr val="14C4B0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46304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0" y="237744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3600" b="1" noProof="0" dirty="0">
                <a:solidFill>
                  <a:srgbClr val="14C4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Démo Claude × MCP</a:t>
            </a:r>
            <a:endParaRPr lang="fr-FR" sz="3600" noProof="0" dirty="0"/>
          </a:p>
        </p:txBody>
      </p:sp>
      <p:sp>
        <p:nvSpPr>
          <p:cNvPr id="6" name="Text 3"/>
          <p:cNvSpPr/>
          <p:nvPr/>
        </p:nvSpPr>
        <p:spPr>
          <a:xfrm>
            <a:off x="1828800" y="30175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4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Pilotage de l'application en langage naturel</a:t>
            </a:r>
            <a:endParaRPr lang="fr-FR" sz="1400" noProof="0" dirty="0"/>
          </a:p>
        </p:txBody>
      </p:sp>
      <p:sp>
        <p:nvSpPr>
          <p:cNvPr id="7" name="Text 4"/>
          <p:cNvSpPr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2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</a:t>
            </a:r>
            <a:r>
              <a:rPr lang="fr-FR" sz="12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r>
              <a:rPr lang="fr-FR" sz="12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• 1 </a:t>
            </a:r>
            <a:r>
              <a:rPr lang="fr-FR" sz="12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</a:t>
            </a:r>
            <a:r>
              <a:rPr lang="fr-FR" sz="12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• 3 prompts — accessibles depuis Claude Desktop</a:t>
            </a:r>
            <a:endParaRPr lang="fr-FR" sz="1200" noProof="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21363F-D2B7-0B3E-AF11-0FEB2F1E38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C2F43A47-BDC7-4F21-A02E-154C9A43D739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F9B8E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A998901-AD3A-6F3C-232F-A52CCBB9EAE0}"/>
              </a:ext>
            </a:extLst>
          </p:cNvPr>
          <p:cNvSpPr/>
          <p:nvPr/>
        </p:nvSpPr>
        <p:spPr>
          <a:xfrm>
            <a:off x="731520" y="320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3600" b="1" noProof="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Avantage du MCP</a:t>
            </a:r>
            <a:endParaRPr lang="fr-FR" sz="3600" noProof="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5A6B50AC-9FCC-174A-6F21-498C2D1B3307}"/>
              </a:ext>
            </a:extLst>
          </p:cNvPr>
          <p:cNvSpPr/>
          <p:nvPr/>
        </p:nvSpPr>
        <p:spPr>
          <a:xfrm>
            <a:off x="548640" y="1165860"/>
            <a:ext cx="8046720" cy="777240"/>
          </a:xfrm>
          <a:prstGeom prst="rect">
            <a:avLst/>
          </a:prstGeom>
          <a:solidFill>
            <a:srgbClr val="F0F4F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518DB6C-C712-C021-BE52-41E62D32EA94}"/>
              </a:ext>
            </a:extLst>
          </p:cNvPr>
          <p:cNvSpPr/>
          <p:nvPr/>
        </p:nvSpPr>
        <p:spPr>
          <a:xfrm>
            <a:off x="548640" y="1188720"/>
            <a:ext cx="64008" cy="777240"/>
          </a:xfrm>
          <a:prstGeom prst="rect">
            <a:avLst/>
          </a:prstGeom>
          <a:solidFill>
            <a:srgbClr val="0F9B8E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6" name="Image 0" descr="preencoded.png">
            <a:extLst>
              <a:ext uri="{FF2B5EF4-FFF2-40B4-BE49-F238E27FC236}">
                <a16:creationId xmlns:a16="http://schemas.microsoft.com/office/drawing/2014/main" id="{DA6ECDF7-034A-34CF-2B62-3412E9FE69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371600"/>
            <a:ext cx="365760" cy="365760"/>
          </a:xfrm>
          <a:prstGeom prst="rect">
            <a:avLst/>
          </a:prstGeom>
        </p:spPr>
      </p:pic>
      <p:sp>
        <p:nvSpPr>
          <p:cNvPr id="7" name="Text 4">
            <a:extLst>
              <a:ext uri="{FF2B5EF4-FFF2-40B4-BE49-F238E27FC236}">
                <a16:creationId xmlns:a16="http://schemas.microsoft.com/office/drawing/2014/main" id="{4DD83E8E-3AA8-4FF6-5D23-560B7508888C}"/>
              </a:ext>
            </a:extLst>
          </p:cNvPr>
          <p:cNvSpPr/>
          <p:nvPr/>
        </p:nvSpPr>
        <p:spPr>
          <a:xfrm>
            <a:off x="1371600" y="141732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"Crée une tâche pour Aimeric sur le module </a:t>
            </a:r>
            <a:r>
              <a:rPr lang="fr-FR" sz="1400" b="1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r>
              <a:rPr lang="fr-FR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 — Une phrase suffit, l'IA fait le reste</a:t>
            </a:r>
            <a:endParaRPr lang="fr-FR" sz="1400" b="1" noProof="0" dirty="0"/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B77E1131-B58D-F885-F6E7-111019617CB3}"/>
              </a:ext>
            </a:extLst>
          </p:cNvPr>
          <p:cNvSpPr/>
          <p:nvPr/>
        </p:nvSpPr>
        <p:spPr>
          <a:xfrm>
            <a:off x="548640" y="2103120"/>
            <a:ext cx="8046720" cy="777240"/>
          </a:xfrm>
          <a:prstGeom prst="rect">
            <a:avLst/>
          </a:prstGeom>
          <a:solidFill>
            <a:srgbClr val="F0F4F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2BE8F4AC-2909-EA9E-D484-B22AF26D5F17}"/>
              </a:ext>
            </a:extLst>
          </p:cNvPr>
          <p:cNvSpPr/>
          <p:nvPr/>
        </p:nvSpPr>
        <p:spPr>
          <a:xfrm>
            <a:off x="548640" y="2103120"/>
            <a:ext cx="64008" cy="777240"/>
          </a:xfrm>
          <a:prstGeom prst="rect">
            <a:avLst/>
          </a:prstGeom>
          <a:solidFill>
            <a:srgbClr val="0F9B8E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11" name="Image 1" descr="preencoded.png">
            <a:extLst>
              <a:ext uri="{FF2B5EF4-FFF2-40B4-BE49-F238E27FC236}">
                <a16:creationId xmlns:a16="http://schemas.microsoft.com/office/drawing/2014/main" id="{B8AD697C-F00A-FA64-B0E7-998A1DDBCC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286000"/>
            <a:ext cx="365760" cy="365760"/>
          </a:xfrm>
          <a:prstGeom prst="rect">
            <a:avLst/>
          </a:prstGeom>
        </p:spPr>
      </p:pic>
      <p:sp>
        <p:nvSpPr>
          <p:cNvPr id="12" name="Text 8">
            <a:extLst>
              <a:ext uri="{FF2B5EF4-FFF2-40B4-BE49-F238E27FC236}">
                <a16:creationId xmlns:a16="http://schemas.microsoft.com/office/drawing/2014/main" id="{EBC05E5B-EE6A-E7E9-021A-A0B88F97F53E}"/>
              </a:ext>
            </a:extLst>
          </p:cNvPr>
          <p:cNvSpPr/>
          <p:nvPr/>
        </p:nvSpPr>
        <p:spPr>
          <a:xfrm>
            <a:off x="1371600" y="230886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1400" b="1" dirty="0"/>
              <a:t> L'IA détecte les déséquilibres — Elle peut comparer la charge de chaque membre (et alerter)</a:t>
            </a:r>
            <a:endParaRPr lang="fr-FR" sz="1400" b="1" noProof="0" dirty="0"/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A8C5BF62-D3C8-E918-7015-0830D2E9D577}"/>
              </a:ext>
            </a:extLst>
          </p:cNvPr>
          <p:cNvSpPr/>
          <p:nvPr/>
        </p:nvSpPr>
        <p:spPr>
          <a:xfrm>
            <a:off x="548640" y="3017520"/>
            <a:ext cx="8046720" cy="777240"/>
          </a:xfrm>
          <a:prstGeom prst="rect">
            <a:avLst/>
          </a:prstGeom>
          <a:solidFill>
            <a:srgbClr val="F0F4F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5" name="Shape 11">
            <a:extLst>
              <a:ext uri="{FF2B5EF4-FFF2-40B4-BE49-F238E27FC236}">
                <a16:creationId xmlns:a16="http://schemas.microsoft.com/office/drawing/2014/main" id="{71C4EE54-0BA9-A67C-3C97-B63BDDF47ADB}"/>
              </a:ext>
            </a:extLst>
          </p:cNvPr>
          <p:cNvSpPr/>
          <p:nvPr/>
        </p:nvSpPr>
        <p:spPr>
          <a:xfrm>
            <a:off x="548640" y="3017520"/>
            <a:ext cx="64008" cy="777240"/>
          </a:xfrm>
          <a:prstGeom prst="rect">
            <a:avLst/>
          </a:prstGeom>
          <a:solidFill>
            <a:srgbClr val="0F9B8E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16" name="Image 2" descr="preencoded.png">
            <a:extLst>
              <a:ext uri="{FF2B5EF4-FFF2-40B4-BE49-F238E27FC236}">
                <a16:creationId xmlns:a16="http://schemas.microsoft.com/office/drawing/2014/main" id="{C0E52DFC-9078-400D-5B38-ADD9B5D2CF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200400"/>
            <a:ext cx="365760" cy="365760"/>
          </a:xfrm>
          <a:prstGeom prst="rect">
            <a:avLst/>
          </a:prstGeom>
        </p:spPr>
      </p:pic>
      <p:sp>
        <p:nvSpPr>
          <p:cNvPr id="17" name="Text 12">
            <a:extLst>
              <a:ext uri="{FF2B5EF4-FFF2-40B4-BE49-F238E27FC236}">
                <a16:creationId xmlns:a16="http://schemas.microsoft.com/office/drawing/2014/main" id="{7207855D-C641-5F6D-190C-49483111F6FA}"/>
              </a:ext>
            </a:extLst>
          </p:cNvPr>
          <p:cNvSpPr/>
          <p:nvPr/>
        </p:nvSpPr>
        <p:spPr>
          <a:xfrm>
            <a:off x="1417320" y="322326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Standup généré en « 2 secondes » — L'IA lit l'état du projet et produit le compte-rendu</a:t>
            </a:r>
            <a:endParaRPr lang="fr-FR" sz="1400" noProof="0" dirty="0"/>
          </a:p>
        </p:txBody>
      </p:sp>
      <p:sp>
        <p:nvSpPr>
          <p:cNvPr id="19" name="Shape 14">
            <a:extLst>
              <a:ext uri="{FF2B5EF4-FFF2-40B4-BE49-F238E27FC236}">
                <a16:creationId xmlns:a16="http://schemas.microsoft.com/office/drawing/2014/main" id="{7B9CE32D-3C55-AECF-F765-23AE966F83C8}"/>
              </a:ext>
            </a:extLst>
          </p:cNvPr>
          <p:cNvSpPr/>
          <p:nvPr/>
        </p:nvSpPr>
        <p:spPr>
          <a:xfrm>
            <a:off x="548640" y="3931920"/>
            <a:ext cx="8046720" cy="777240"/>
          </a:xfrm>
          <a:prstGeom prst="rect">
            <a:avLst/>
          </a:prstGeom>
          <a:solidFill>
            <a:srgbClr val="F0F4F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0" name="Shape 15">
            <a:extLst>
              <a:ext uri="{FF2B5EF4-FFF2-40B4-BE49-F238E27FC236}">
                <a16:creationId xmlns:a16="http://schemas.microsoft.com/office/drawing/2014/main" id="{59C3C8F8-5FED-E0BA-FE98-7E8944A7B126}"/>
              </a:ext>
            </a:extLst>
          </p:cNvPr>
          <p:cNvSpPr/>
          <p:nvPr/>
        </p:nvSpPr>
        <p:spPr>
          <a:xfrm>
            <a:off x="548640" y="3931920"/>
            <a:ext cx="64008" cy="777240"/>
          </a:xfrm>
          <a:prstGeom prst="rect">
            <a:avLst/>
          </a:prstGeom>
          <a:solidFill>
            <a:srgbClr val="0F9B8E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21" name="Image 3" descr="preencoded.png">
            <a:extLst>
              <a:ext uri="{FF2B5EF4-FFF2-40B4-BE49-F238E27FC236}">
                <a16:creationId xmlns:a16="http://schemas.microsoft.com/office/drawing/2014/main" id="{B6E172D5-05A3-E27C-5989-764DA74B6E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114800"/>
            <a:ext cx="365760" cy="365760"/>
          </a:xfrm>
          <a:prstGeom prst="rect">
            <a:avLst/>
          </a:prstGeom>
        </p:spPr>
      </p:pic>
      <p:sp>
        <p:nvSpPr>
          <p:cNvPr id="22" name="Text 16">
            <a:extLst>
              <a:ext uri="{FF2B5EF4-FFF2-40B4-BE49-F238E27FC236}">
                <a16:creationId xmlns:a16="http://schemas.microsoft.com/office/drawing/2014/main" id="{015CAF22-D54F-0225-9DF2-018D04F63B15}"/>
              </a:ext>
            </a:extLst>
          </p:cNvPr>
          <p:cNvSpPr/>
          <p:nvPr/>
        </p:nvSpPr>
        <p:spPr>
          <a:xfrm>
            <a:off x="1371600" y="413766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Intégré dans le workflow dev — Claude Desktop est déjà ouvert toute la journée</a:t>
            </a:r>
            <a:endParaRPr lang="fr-FR" sz="1400" noProof="0" dirty="0"/>
          </a:p>
        </p:txBody>
      </p:sp>
    </p:spTree>
    <p:extLst>
      <p:ext uri="{BB962C8B-B14F-4D97-AF65-F5344CB8AC3E}">
        <p14:creationId xmlns:p14="http://schemas.microsoft.com/office/powerpoint/2010/main" val="34142106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594367-FC65-D2CD-0DD8-60CA42CCD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56245AF-EE53-1D0E-3532-E9E2611FDFFE}"/>
              </a:ext>
            </a:extLst>
          </p:cNvPr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F9B8E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02BC8A4-CF71-4A1F-81F5-D5AEC7848934}"/>
              </a:ext>
            </a:extLst>
          </p:cNvPr>
          <p:cNvSpPr/>
          <p:nvPr/>
        </p:nvSpPr>
        <p:spPr>
          <a:xfrm>
            <a:off x="731520" y="320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3600" b="1" noProof="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Limites </a:t>
            </a:r>
            <a:r>
              <a:rPr lang="fr-FR" sz="36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connues du MCP</a:t>
            </a:r>
            <a:endParaRPr lang="fr-FR" sz="3600" noProof="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4D49FFA-415C-8B8E-D10D-C396D916B19B}"/>
              </a:ext>
            </a:extLst>
          </p:cNvPr>
          <p:cNvSpPr/>
          <p:nvPr/>
        </p:nvSpPr>
        <p:spPr>
          <a:xfrm>
            <a:off x="548640" y="1280160"/>
            <a:ext cx="8046720" cy="54864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A8DC238A-2167-A474-5748-E786A51A28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389888"/>
            <a:ext cx="320040" cy="320040"/>
          </a:xfrm>
          <a:prstGeom prst="rect">
            <a:avLst/>
          </a:prstGeom>
        </p:spPr>
      </p:pic>
      <p:sp>
        <p:nvSpPr>
          <p:cNvPr id="6" name="Text 3">
            <a:extLst>
              <a:ext uri="{FF2B5EF4-FFF2-40B4-BE49-F238E27FC236}">
                <a16:creationId xmlns:a16="http://schemas.microsoft.com/office/drawing/2014/main" id="{536B203B-8DDF-F16A-9126-0A6B5B6111C3}"/>
              </a:ext>
            </a:extLst>
          </p:cNvPr>
          <p:cNvSpPr/>
          <p:nvPr/>
        </p:nvSpPr>
        <p:spPr>
          <a:xfrm>
            <a:off x="1280160" y="1280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1400" dirty="0"/>
              <a:t>Passer en « full MCP IA » pollue plus qu’une saisie à la main.</a:t>
            </a:r>
            <a:endParaRPr lang="fr-FR" sz="1400" noProof="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B7484805-592C-3B99-DE5D-1BE16E861173}"/>
              </a:ext>
            </a:extLst>
          </p:cNvPr>
          <p:cNvSpPr/>
          <p:nvPr/>
        </p:nvSpPr>
        <p:spPr>
          <a:xfrm>
            <a:off x="548640" y="1938528"/>
            <a:ext cx="804672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8" name="Image 1" descr="preencoded.png">
            <a:extLst>
              <a:ext uri="{FF2B5EF4-FFF2-40B4-BE49-F238E27FC236}">
                <a16:creationId xmlns:a16="http://schemas.microsoft.com/office/drawing/2014/main" id="{C7434ADE-205D-CC3B-7C1D-2950B17B79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048256"/>
            <a:ext cx="320040" cy="320040"/>
          </a:xfrm>
          <a:prstGeom prst="rect">
            <a:avLst/>
          </a:prstGeom>
        </p:spPr>
      </p:pic>
      <p:sp>
        <p:nvSpPr>
          <p:cNvPr id="9" name="Text 5">
            <a:extLst>
              <a:ext uri="{FF2B5EF4-FFF2-40B4-BE49-F238E27FC236}">
                <a16:creationId xmlns:a16="http://schemas.microsoft.com/office/drawing/2014/main" id="{0BEA6A48-9DBC-21F2-400B-C871E6DDF29F}"/>
              </a:ext>
            </a:extLst>
          </p:cNvPr>
          <p:cNvSpPr/>
          <p:nvPr/>
        </p:nvSpPr>
        <p:spPr>
          <a:xfrm>
            <a:off x="1280160" y="1938528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y a besoin d’une connexion internet suffisante pour gérer l’exécution de Claude</a:t>
            </a:r>
            <a:endParaRPr lang="fr-FR" sz="1400" noProof="0" dirty="0"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A5D171A3-2E7C-5F45-29F8-AC3FEABEBC00}"/>
              </a:ext>
            </a:extLst>
          </p:cNvPr>
          <p:cNvSpPr/>
          <p:nvPr/>
        </p:nvSpPr>
        <p:spPr>
          <a:xfrm>
            <a:off x="548640" y="2596896"/>
            <a:ext cx="8046720" cy="54864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11" name="Image 2" descr="preencoded.png">
            <a:extLst>
              <a:ext uri="{FF2B5EF4-FFF2-40B4-BE49-F238E27FC236}">
                <a16:creationId xmlns:a16="http://schemas.microsoft.com/office/drawing/2014/main" id="{BFDC28DA-E317-A195-D45B-E28F0AC8C0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706624"/>
            <a:ext cx="320040" cy="320040"/>
          </a:xfrm>
          <a:prstGeom prst="rect">
            <a:avLst/>
          </a:prstGeom>
        </p:spPr>
      </p:pic>
      <p:sp>
        <p:nvSpPr>
          <p:cNvPr id="12" name="Text 7">
            <a:extLst>
              <a:ext uri="{FF2B5EF4-FFF2-40B4-BE49-F238E27FC236}">
                <a16:creationId xmlns:a16="http://schemas.microsoft.com/office/drawing/2014/main" id="{AE0D5D89-B579-3190-68FE-F61369D94A09}"/>
              </a:ext>
            </a:extLst>
          </p:cNvPr>
          <p:cNvSpPr/>
          <p:nvPr/>
        </p:nvSpPr>
        <p:spPr>
          <a:xfrm>
            <a:off x="1280160" y="2596896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1400" noProof="0" dirty="0"/>
              <a:t>Bien que rare dans nos testes, l’IA peut </a:t>
            </a:r>
            <a:r>
              <a:rPr lang="fr-FR" sz="1400" dirty="0"/>
              <a:t>halluciner, et mal se comporter, une vérification humaine est toujours recommandée</a:t>
            </a:r>
            <a:endParaRPr lang="fr-FR" sz="1400" noProof="0" dirty="0"/>
          </a:p>
        </p:txBody>
      </p:sp>
      <p:sp>
        <p:nvSpPr>
          <p:cNvPr id="13" name="Shape 8">
            <a:extLst>
              <a:ext uri="{FF2B5EF4-FFF2-40B4-BE49-F238E27FC236}">
                <a16:creationId xmlns:a16="http://schemas.microsoft.com/office/drawing/2014/main" id="{BCF56B00-C703-87E1-45CF-63053659B4F4}"/>
              </a:ext>
            </a:extLst>
          </p:cNvPr>
          <p:cNvSpPr/>
          <p:nvPr/>
        </p:nvSpPr>
        <p:spPr>
          <a:xfrm>
            <a:off x="548640" y="3255264"/>
            <a:ext cx="8046720" cy="54864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6" name="Shape 10">
            <a:extLst>
              <a:ext uri="{FF2B5EF4-FFF2-40B4-BE49-F238E27FC236}">
                <a16:creationId xmlns:a16="http://schemas.microsoft.com/office/drawing/2014/main" id="{FCEF7F08-72BD-BC1E-6701-660FC2D58023}"/>
              </a:ext>
            </a:extLst>
          </p:cNvPr>
          <p:cNvSpPr/>
          <p:nvPr/>
        </p:nvSpPr>
        <p:spPr>
          <a:xfrm>
            <a:off x="548640" y="3913632"/>
            <a:ext cx="8046720" cy="54864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8" name="Text 11">
            <a:extLst>
              <a:ext uri="{FF2B5EF4-FFF2-40B4-BE49-F238E27FC236}">
                <a16:creationId xmlns:a16="http://schemas.microsoft.com/office/drawing/2014/main" id="{49FF85FF-F9A8-0143-2955-9C2962CFB5F1}"/>
              </a:ext>
            </a:extLst>
          </p:cNvPr>
          <p:cNvSpPr/>
          <p:nvPr/>
        </p:nvSpPr>
        <p:spPr>
          <a:xfrm>
            <a:off x="1280160" y="3913632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fr-FR" sz="1400" noProof="0" dirty="0"/>
          </a:p>
        </p:txBody>
      </p:sp>
      <p:sp>
        <p:nvSpPr>
          <p:cNvPr id="19" name="Text 12">
            <a:extLst>
              <a:ext uri="{FF2B5EF4-FFF2-40B4-BE49-F238E27FC236}">
                <a16:creationId xmlns:a16="http://schemas.microsoft.com/office/drawing/2014/main" id="{5294A0BC-E1E4-6AC6-6B25-127247B3960B}"/>
              </a:ext>
            </a:extLst>
          </p:cNvPr>
          <p:cNvSpPr/>
          <p:nvPr/>
        </p:nvSpPr>
        <p:spPr>
          <a:xfrm>
            <a:off x="548640" y="4709160"/>
            <a:ext cx="8046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100" i="1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Ces limites sont identifiées et priorisées pour les prochaines itérations.</a:t>
            </a:r>
            <a:endParaRPr lang="fr-FR" sz="1100" noProof="0" dirty="0"/>
          </a:p>
        </p:txBody>
      </p:sp>
    </p:spTree>
    <p:extLst>
      <p:ext uri="{BB962C8B-B14F-4D97-AF65-F5344CB8AC3E}">
        <p14:creationId xmlns:p14="http://schemas.microsoft.com/office/powerpoint/2010/main" val="1512389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F9B8E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" name="Text 1"/>
          <p:cNvSpPr/>
          <p:nvPr/>
        </p:nvSpPr>
        <p:spPr>
          <a:xfrm>
            <a:off x="731520" y="320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3600" b="1" noProof="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Stack technique</a:t>
            </a:r>
            <a:endParaRPr lang="fr-FR" sz="3600" noProof="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1822058"/>
              </p:ext>
            </p:extLst>
          </p:nvPr>
        </p:nvGraphicFramePr>
        <p:xfrm>
          <a:off x="914400" y="1188720"/>
          <a:ext cx="7315200" cy="3456432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fr-FR" sz="12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Catégorie</a:t>
                      </a:r>
                      <a:endParaRPr lang="fr-FR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B8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fr-FR" sz="1200" b="1" noProof="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Technologie</a:t>
                      </a:r>
                      <a:endParaRPr lang="fr-FR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9B8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2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Framework</a:t>
                      </a:r>
                      <a:endParaRPr lang="fr-FR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2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Next.js (App Router)</a:t>
                      </a:r>
                      <a:endParaRPr lang="fr-FR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2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Langage</a:t>
                      </a:r>
                      <a:endParaRPr lang="fr-FR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200" noProof="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TypeScript</a:t>
                      </a:r>
                      <a:r>
                        <a:rPr lang="fr-FR" sz="12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(strict)</a:t>
                      </a:r>
                      <a:endParaRPr lang="fr-FR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2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 &amp; </a:t>
                      </a:r>
                      <a:r>
                        <a:rPr lang="fr-FR" sz="1200" noProof="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Styling</a:t>
                      </a:r>
                      <a:endParaRPr lang="fr-FR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200" noProof="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</a:t>
                      </a:r>
                      <a:r>
                        <a:rPr lang="fr-FR" sz="12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+ </a:t>
                      </a:r>
                      <a:r>
                        <a:rPr lang="fr-FR" sz="1200" noProof="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Tailwind</a:t>
                      </a:r>
                      <a:r>
                        <a:rPr lang="fr-FR" sz="12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CSS + </a:t>
                      </a:r>
                      <a:r>
                        <a:rPr lang="fr-FR" sz="1200" noProof="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shadcn</a:t>
                      </a:r>
                      <a:r>
                        <a:rPr lang="fr-FR" sz="12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</a:t>
                      </a:r>
                      <a:r>
                        <a:rPr lang="fr-FR" sz="1200" noProof="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</a:t>
                      </a:r>
                      <a:endParaRPr lang="fr-FR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2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 &amp; BDD</a:t>
                      </a:r>
                      <a:endParaRPr lang="fr-FR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200" noProof="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Supabase</a:t>
                      </a:r>
                      <a:r>
                        <a:rPr lang="fr-FR" sz="12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(SSR, RLS)</a:t>
                      </a:r>
                      <a:endParaRPr lang="fr-FR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200" noProof="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</a:t>
                      </a:r>
                      <a:endParaRPr lang="fr-FR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200" noProof="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Supabase</a:t>
                      </a:r>
                      <a:r>
                        <a:rPr lang="fr-FR" sz="12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</a:t>
                      </a:r>
                      <a:r>
                        <a:rPr lang="fr-FR" sz="1200" noProof="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</a:t>
                      </a:r>
                      <a:r>
                        <a:rPr lang="fr-FR" sz="12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(email/</a:t>
                      </a:r>
                      <a:r>
                        <a:rPr lang="fr-FR" sz="1200" noProof="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mdp</a:t>
                      </a:r>
                      <a:r>
                        <a:rPr lang="fr-FR" sz="12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)</a:t>
                      </a:r>
                      <a:endParaRPr lang="fr-FR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2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MCP</a:t>
                      </a:r>
                      <a:endParaRPr lang="fr-FR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2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@modelcontextprotocol/sdk</a:t>
                      </a:r>
                      <a:endParaRPr lang="fr-FR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2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Drag &amp; Drop</a:t>
                      </a:r>
                      <a:endParaRPr lang="fr-FR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200" noProof="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dnd</a:t>
                      </a:r>
                      <a:r>
                        <a:rPr lang="fr-FR" sz="12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-kit</a:t>
                      </a:r>
                      <a:endParaRPr lang="fr-FR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0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2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Thème</a:t>
                      </a:r>
                      <a:endParaRPr lang="fr-FR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fr-FR" sz="1200" noProof="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next-themes</a:t>
                      </a:r>
                      <a:r>
                        <a:rPr lang="fr-FR" sz="12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(</a:t>
                      </a:r>
                      <a:r>
                        <a:rPr lang="fr-FR" sz="1200" noProof="0" dirty="0" err="1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dark</a:t>
                      </a:r>
                      <a:r>
                        <a:rPr lang="fr-FR" sz="1200" noProof="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/light)</a:t>
                      </a:r>
                      <a:endParaRPr lang="fr-FR" sz="1200" noProof="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1280160"/>
            <a:ext cx="411480" cy="411480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2651760"/>
            <a:ext cx="411480" cy="4114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Justification Stac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Bar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F9B8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itle"/>
          <p:cNvSpPr/>
          <p:nvPr/>
        </p:nvSpPr>
        <p:spPr>
          <a:xfrm>
            <a:off x="731520" y="320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3600" b="1" dirty="0">
                <a:solidFill>
                  <a:srgbClr val="1A1A2E"/>
                </a:solidFill>
                <a:latin typeface="Trebuchet MS" pitchFamily="34" charset="0"/>
              </a:rPr>
              <a:t>Justification des stacks</a:t>
            </a:r>
          </a:p>
        </p:txBody>
      </p:sp>
      <p:sp>
        <p:nvSpPr>
          <p:cNvPr id="50" name="LeftColBg"/>
          <p:cNvSpPr/>
          <p:nvPr/>
        </p:nvSpPr>
        <p:spPr>
          <a:xfrm>
            <a:off x="457200" y="1097280"/>
            <a:ext cx="4023360" cy="384048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1" name="RightColBg"/>
          <p:cNvSpPr/>
          <p:nvPr/>
        </p:nvSpPr>
        <p:spPr>
          <a:xfrm>
            <a:off x="4663440" y="1097280"/>
            <a:ext cx="4023360" cy="3840480"/>
          </a:xfrm>
          <a:prstGeom prst="rect">
            <a:avLst/>
          </a:prstGeom>
          <a:solidFill>
            <a:srgbClr val="F0F4F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Nextjs"/>
          <p:cNvSpPr/>
          <p:nvPr/>
        </p:nvSpPr>
        <p:spPr>
          <a:xfrm>
            <a:off x="548640" y="1143000"/>
            <a:ext cx="3840480" cy="8686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fr-FR" sz="1100" b="1" dirty="0">
                <a:solidFill>
                  <a:srgbClr val="0F9B8E"/>
                </a:solidFill>
                <a:latin typeface="Calibri" pitchFamily="34" charset="0"/>
              </a:rPr>
              <a:t>Next.js (App Router)</a:t>
            </a:r>
          </a:p>
          <a:p>
            <a:pPr marL="0" indent="0">
              <a:buNone/>
            </a:pPr>
            <a:r>
              <a:rPr lang="fr-FR" sz="1000" dirty="0">
                <a:solidFill>
                  <a:srgbClr val="64748B"/>
                </a:solidFill>
                <a:latin typeface="Calibri" pitchFamily="34" charset="0"/>
              </a:rPr>
              <a:t>Fullstack en une codebase. SSR natif pour l’auth Supabase avec cookies. Routing par fichiers = prototypage rapide en 48h.</a:t>
            </a:r>
          </a:p>
        </p:txBody>
      </p:sp>
      <p:sp>
        <p:nvSpPr>
          <p:cNvPr id="11" name="TypeScript"/>
          <p:cNvSpPr/>
          <p:nvPr/>
        </p:nvSpPr>
        <p:spPr>
          <a:xfrm>
            <a:off x="548640" y="2011680"/>
            <a:ext cx="3840480" cy="8686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fr-FR" sz="1100" b="1" dirty="0">
                <a:solidFill>
                  <a:srgbClr val="0F9B8E"/>
                </a:solidFill>
                <a:latin typeface="Calibri" pitchFamily="34" charset="0"/>
              </a:rPr>
              <a:t>TypeScript (strict)</a:t>
            </a:r>
          </a:p>
          <a:p>
            <a:pPr marL="0" indent="0">
              <a:buNone/>
            </a:pPr>
            <a:r>
              <a:rPr lang="fr-FR" sz="1000" dirty="0">
                <a:solidFill>
                  <a:srgbClr val="64748B"/>
                </a:solidFill>
                <a:latin typeface="Calibri" pitchFamily="34" charset="0"/>
              </a:rPr>
              <a:t>4 devs, 48h : le typage strict évite les bugs d’intégration. Erreurs détectées à la compilation. Requis par le SDK MCP.</a:t>
            </a:r>
          </a:p>
        </p:txBody>
      </p:sp>
      <p:sp>
        <p:nvSpPr>
          <p:cNvPr id="12" name="ReactTailwind"/>
          <p:cNvSpPr/>
          <p:nvPr/>
        </p:nvSpPr>
        <p:spPr>
          <a:xfrm>
            <a:off x="548640" y="2880360"/>
            <a:ext cx="3840480" cy="8686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fr-FR" sz="1100" b="1" dirty="0">
                <a:solidFill>
                  <a:srgbClr val="0F9B8E"/>
                </a:solidFill>
                <a:latin typeface="Calibri" pitchFamily="34" charset="0"/>
              </a:rPr>
              <a:t>React + Tailwind + shadcn/ui</a:t>
            </a:r>
          </a:p>
          <a:p>
            <a:pPr marL="0" indent="0">
              <a:buNone/>
            </a:pPr>
            <a:r>
              <a:rPr lang="fr-FR" sz="1000" dirty="0">
                <a:solidFill>
                  <a:srgbClr val="64748B"/>
                </a:solidFill>
                <a:latin typeface="Calibri" pitchFamily="34" charset="0"/>
              </a:rPr>
              <a:t>Composants accessibles prêts à l’emploi (modals, toasts). Styling rapide sans CSS custom. Qualité UX en un temps record.</a:t>
            </a:r>
          </a:p>
        </p:txBody>
      </p:sp>
      <p:sp>
        <p:nvSpPr>
          <p:cNvPr id="13" name="Supabase"/>
          <p:cNvSpPr/>
          <p:nvPr/>
        </p:nvSpPr>
        <p:spPr>
          <a:xfrm>
            <a:off x="548640" y="3749040"/>
            <a:ext cx="3840480" cy="10515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fr-FR" sz="1100" b="1" dirty="0">
                <a:solidFill>
                  <a:srgbClr val="0F9B8E"/>
                </a:solidFill>
                <a:latin typeface="Calibri" pitchFamily="34" charset="0"/>
              </a:rPr>
              <a:t>Supabase (SSR, RLS, Auth)</a:t>
            </a:r>
          </a:p>
          <a:p>
            <a:pPr marL="0" indent="0">
              <a:buNone/>
            </a:pPr>
            <a:r>
              <a:rPr lang="fr-FR" sz="1000" dirty="0">
                <a:solidFill>
                  <a:srgbClr val="64748B"/>
                </a:solidFill>
                <a:latin typeface="Calibri" pitchFamily="34" charset="0"/>
              </a:rPr>
              <a:t>Backend + BDD + Auth en un service. RLS isole les données au niveau PostgreSQL. Pas d’API REST à écrire = gain de temps décisif en 48h.</a:t>
            </a:r>
          </a:p>
        </p:txBody>
      </p:sp>
      <p:sp>
        <p:nvSpPr>
          <p:cNvPr id="20" name="MCPSDK"/>
          <p:cNvSpPr/>
          <p:nvPr/>
        </p:nvSpPr>
        <p:spPr>
          <a:xfrm>
            <a:off x="4754880" y="1143000"/>
            <a:ext cx="3840480" cy="8686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fr-FR" sz="1100" b="1" dirty="0">
                <a:solidFill>
                  <a:srgbClr val="0F9B8E"/>
                </a:solidFill>
                <a:latin typeface="Calibri" pitchFamily="34" charset="0"/>
              </a:rPr>
              <a:t>@modelcontextprotocol/sdk</a:t>
            </a:r>
          </a:p>
          <a:p>
            <a:pPr marL="0" indent="0">
              <a:buNone/>
            </a:pPr>
            <a:r>
              <a:rPr lang="fr-FR" sz="1000" dirty="0">
                <a:solidFill>
                  <a:srgbClr val="64748B"/>
                </a:solidFill>
                <a:latin typeface="Calibri" pitchFamily="34" charset="0"/>
              </a:rPr>
              <a:t>SDK officiel Anthropic en TypeScript. Transport stdio pour Claude Desktop. API claire pour déclarer tools, resources et prompts.</a:t>
            </a:r>
          </a:p>
        </p:txBody>
      </p:sp>
      <p:sp>
        <p:nvSpPr>
          <p:cNvPr id="21" name="DndKit"/>
          <p:cNvSpPr/>
          <p:nvPr/>
        </p:nvSpPr>
        <p:spPr>
          <a:xfrm>
            <a:off x="4754880" y="2011680"/>
            <a:ext cx="3840480" cy="8686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fr-FR" sz="1100" b="1" dirty="0">
                <a:solidFill>
                  <a:srgbClr val="0F9B8E"/>
                </a:solidFill>
                <a:latin typeface="Calibri" pitchFamily="34" charset="0"/>
              </a:rPr>
              <a:t>dnd-kit</a:t>
            </a:r>
          </a:p>
          <a:p>
            <a:pPr marL="0" indent="0">
              <a:buNone/>
            </a:pPr>
            <a:r>
              <a:rPr lang="fr-FR" sz="1000" dirty="0">
                <a:solidFill>
                  <a:srgbClr val="64748B"/>
                </a:solidFill>
                <a:latin typeface="Calibri" pitchFamily="34" charset="0"/>
              </a:rPr>
              <a:t>Librairie D&amp;D la plus moderne pour React. Remplace react-beautiful-dnd (non maintenu). API par hooks, performante. Indispensable pour le Kanban.</a:t>
            </a:r>
          </a:p>
        </p:txBody>
      </p:sp>
      <p:sp>
        <p:nvSpPr>
          <p:cNvPr id="22" name="NextThemes"/>
          <p:cNvSpPr/>
          <p:nvPr/>
        </p:nvSpPr>
        <p:spPr>
          <a:xfrm>
            <a:off x="4754880" y="2880360"/>
            <a:ext cx="3840480" cy="8686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fr-FR" sz="1100" b="1" dirty="0">
                <a:solidFill>
                  <a:srgbClr val="0F9B8E"/>
                </a:solidFill>
                <a:latin typeface="Calibri" pitchFamily="34" charset="0"/>
              </a:rPr>
              <a:t>next-themes</a:t>
            </a:r>
          </a:p>
          <a:p>
            <a:pPr marL="0" indent="0">
              <a:buNone/>
            </a:pPr>
            <a:r>
              <a:rPr lang="fr-FR" sz="1000" dirty="0">
                <a:solidFill>
                  <a:srgbClr val="64748B"/>
                </a:solidFill>
                <a:latin typeface="Calibri" pitchFamily="34" charset="0"/>
              </a:rPr>
              <a:t>2 Ko, zéro flash au chargement. Gère préférences système + localStorage. Bonus dark mode facile à implémenter proprement.</a:t>
            </a:r>
          </a:p>
        </p:txBody>
      </p:sp>
      <p:sp>
        <p:nvSpPr>
          <p:cNvPr id="23" name="Philo"/>
          <p:cNvSpPr/>
          <p:nvPr/>
        </p:nvSpPr>
        <p:spPr>
          <a:xfrm>
            <a:off x="4754880" y="3749040"/>
            <a:ext cx="3840480" cy="10515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0" indent="0">
              <a:buNone/>
            </a:pPr>
            <a:r>
              <a:rPr lang="fr-FR" sz="1100" b="1" dirty="0">
                <a:solidFill>
                  <a:srgbClr val="0F9B8E"/>
                </a:solidFill>
                <a:latin typeface="Calibri" pitchFamily="34" charset="0"/>
              </a:rPr>
              <a:t>Philosophie générale</a:t>
            </a:r>
          </a:p>
          <a:p>
            <a:pPr marL="0" indent="0">
              <a:buNone/>
            </a:pPr>
            <a:r>
              <a:rPr lang="fr-FR" sz="1000" dirty="0">
                <a:solidFill>
                  <a:srgbClr val="64748B"/>
                </a:solidFill>
                <a:latin typeface="Calibri" pitchFamily="34" charset="0"/>
              </a:rPr>
              <a:t>Stack 100% TypeScript de bout en bout. Chaque choix réduit le code à écrire : Supabase remplace l’API, shadcn le design system, Next.js unifie front et back.</a:t>
            </a:r>
          </a:p>
        </p:txBody>
      </p:sp>
      <p:sp>
        <p:nvSpPr>
          <p:cNvPr id="30" name="Sep1L"/>
          <p:cNvSpPr/>
          <p:nvPr/>
        </p:nvSpPr>
        <p:spPr>
          <a:xfrm>
            <a:off x="548640" y="2011680"/>
            <a:ext cx="3749040" cy="0"/>
          </a:xfrm>
          <a:prstGeom prst="line">
            <a:avLst/>
          </a:prstGeom>
          <a:ln w="6350">
            <a:solidFill>
              <a:srgbClr val="E2E8F0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31" name="Sep2L"/>
          <p:cNvSpPr/>
          <p:nvPr/>
        </p:nvSpPr>
        <p:spPr>
          <a:xfrm>
            <a:off x="548640" y="2880360"/>
            <a:ext cx="3749040" cy="0"/>
          </a:xfrm>
          <a:prstGeom prst="line">
            <a:avLst/>
          </a:prstGeom>
          <a:ln w="6350">
            <a:solidFill>
              <a:srgbClr val="E2E8F0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32" name="Sep3L"/>
          <p:cNvSpPr/>
          <p:nvPr/>
        </p:nvSpPr>
        <p:spPr>
          <a:xfrm>
            <a:off x="548640" y="3749040"/>
            <a:ext cx="3749040" cy="0"/>
          </a:xfrm>
          <a:prstGeom prst="line">
            <a:avLst/>
          </a:prstGeom>
          <a:ln w="6350">
            <a:solidFill>
              <a:srgbClr val="E2E8F0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33" name="Sep1R"/>
          <p:cNvSpPr/>
          <p:nvPr/>
        </p:nvSpPr>
        <p:spPr>
          <a:xfrm>
            <a:off x="4754880" y="2011680"/>
            <a:ext cx="3749040" cy="0"/>
          </a:xfrm>
          <a:prstGeom prst="line">
            <a:avLst/>
          </a:prstGeom>
          <a:ln w="6350">
            <a:solidFill>
              <a:srgbClr val="E2E8F0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34" name="Sep2R"/>
          <p:cNvSpPr/>
          <p:nvPr/>
        </p:nvSpPr>
        <p:spPr>
          <a:xfrm>
            <a:off x="4754880" y="2880360"/>
            <a:ext cx="3749040" cy="0"/>
          </a:xfrm>
          <a:prstGeom prst="line">
            <a:avLst/>
          </a:prstGeom>
          <a:ln w="6350">
            <a:solidFill>
              <a:srgbClr val="E2E8F0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35" name="Sep3R"/>
          <p:cNvSpPr/>
          <p:nvPr/>
        </p:nvSpPr>
        <p:spPr>
          <a:xfrm>
            <a:off x="4754880" y="3749040"/>
            <a:ext cx="3749040" cy="0"/>
          </a:xfrm>
          <a:prstGeom prst="line">
            <a:avLst/>
          </a:prstGeom>
          <a:ln w="6350">
            <a:solidFill>
              <a:srgbClr val="E2E8F0"/>
            </a:solidFill>
          </a:ln>
        </p:spPr>
        <p:txBody>
          <a:bodyPr/>
          <a:lstStyle/>
          <a:p>
            <a:endParaRPr lang="fr-FR"/>
          </a:p>
        </p:txBody>
      </p:sp>
      <p:sp>
        <p:nvSpPr>
          <p:cNvPr id="40" name="VertSep"/>
          <p:cNvSpPr/>
          <p:nvPr/>
        </p:nvSpPr>
        <p:spPr>
          <a:xfrm>
            <a:off x="4571999" y="1188720"/>
            <a:ext cx="0" cy="3657600"/>
          </a:xfrm>
          <a:prstGeom prst="line">
            <a:avLst/>
          </a:prstGeom>
          <a:ln w="6350">
            <a:solidFill>
              <a:srgbClr val="E2E8F0"/>
            </a:solidFill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F9B8E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" name="Text 1"/>
          <p:cNvSpPr/>
          <p:nvPr/>
        </p:nvSpPr>
        <p:spPr>
          <a:xfrm>
            <a:off x="731520" y="320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3600" b="1" noProof="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Problèmes rencontrés</a:t>
            </a:r>
            <a:endParaRPr lang="fr-FR" sz="3600" noProof="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8046720" cy="777240"/>
          </a:xfrm>
          <a:prstGeom prst="rect">
            <a:avLst/>
          </a:prstGeom>
          <a:solidFill>
            <a:srgbClr val="F0F4F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64008" cy="7772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37160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23444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1400" b="1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Sécurité des données multi-utilisateurs</a:t>
            </a:r>
            <a:endParaRPr lang="fr-FR" sz="1400" noProof="0" dirty="0"/>
          </a:p>
        </p:txBody>
      </p:sp>
      <p:sp>
        <p:nvSpPr>
          <p:cNvPr id="8" name="Text 5"/>
          <p:cNvSpPr/>
          <p:nvPr/>
        </p:nvSpPr>
        <p:spPr>
          <a:xfrm>
            <a:off x="1371600" y="155448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Empêcher un utilisateur d'accéder aux projets/tâches d'un autre, y compris via l'API.</a:t>
            </a:r>
            <a:endParaRPr lang="fr-FR" sz="1100" noProof="0" dirty="0"/>
          </a:p>
        </p:txBody>
      </p:sp>
      <p:sp>
        <p:nvSpPr>
          <p:cNvPr id="9" name="Shape 6"/>
          <p:cNvSpPr/>
          <p:nvPr/>
        </p:nvSpPr>
        <p:spPr>
          <a:xfrm>
            <a:off x="548640" y="2103120"/>
            <a:ext cx="8046720" cy="777240"/>
          </a:xfrm>
          <a:prstGeom prst="rect">
            <a:avLst/>
          </a:prstGeom>
          <a:solidFill>
            <a:srgbClr val="F0F4F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0" name="Shape 7"/>
          <p:cNvSpPr/>
          <p:nvPr/>
        </p:nvSpPr>
        <p:spPr>
          <a:xfrm>
            <a:off x="548640" y="2103120"/>
            <a:ext cx="64008" cy="7772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28600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214884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1400" b="1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Cohérence XP en cas d'annulation </a:t>
            </a:r>
            <a:endParaRPr lang="fr-FR" sz="1400" noProof="0" dirty="0"/>
          </a:p>
        </p:txBody>
      </p:sp>
      <p:sp>
        <p:nvSpPr>
          <p:cNvPr id="13" name="Text 9"/>
          <p:cNvSpPr/>
          <p:nvPr/>
        </p:nvSpPr>
        <p:spPr>
          <a:xfrm>
            <a:off x="1371600" y="246888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utilisateur passe une tâche en "Terminé" puis revient en arrière --- l'XP doit suivre dans les deux sens.</a:t>
            </a:r>
            <a:endParaRPr lang="fr-FR" sz="1100" noProof="0" dirty="0"/>
          </a:p>
        </p:txBody>
      </p:sp>
      <p:sp>
        <p:nvSpPr>
          <p:cNvPr id="14" name="Shape 10"/>
          <p:cNvSpPr/>
          <p:nvPr/>
        </p:nvSpPr>
        <p:spPr>
          <a:xfrm>
            <a:off x="548640" y="3017520"/>
            <a:ext cx="8046720" cy="777240"/>
          </a:xfrm>
          <a:prstGeom prst="rect">
            <a:avLst/>
          </a:prstGeom>
          <a:solidFill>
            <a:srgbClr val="F0F4F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5" name="Shape 11"/>
          <p:cNvSpPr/>
          <p:nvPr/>
        </p:nvSpPr>
        <p:spPr>
          <a:xfrm>
            <a:off x="548640" y="3017520"/>
            <a:ext cx="64008" cy="7772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20040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71600" y="306324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1400" b="1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N+1 sur le </a:t>
            </a:r>
            <a:r>
              <a:rPr lang="fr-FR" sz="1400" b="1" noProof="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fr-FR" sz="1400" noProof="0" dirty="0"/>
          </a:p>
        </p:txBody>
      </p:sp>
      <p:sp>
        <p:nvSpPr>
          <p:cNvPr id="18" name="Text 13"/>
          <p:cNvSpPr/>
          <p:nvPr/>
        </p:nvSpPr>
        <p:spPr>
          <a:xfrm>
            <a:off x="1371600" y="338328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Afficher tous les projets avec leurs stats (tâches, membres, retards) sans exploser le nombre de requêtes. </a:t>
            </a:r>
            <a:endParaRPr lang="fr-FR" sz="1100" noProof="0" dirty="0"/>
          </a:p>
        </p:txBody>
      </p:sp>
      <p:sp>
        <p:nvSpPr>
          <p:cNvPr id="19" name="Shape 14"/>
          <p:cNvSpPr/>
          <p:nvPr/>
        </p:nvSpPr>
        <p:spPr>
          <a:xfrm>
            <a:off x="548640" y="3931920"/>
            <a:ext cx="8046720" cy="777240"/>
          </a:xfrm>
          <a:prstGeom prst="rect">
            <a:avLst/>
          </a:prstGeom>
          <a:solidFill>
            <a:srgbClr val="F0F4F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0" name="Shape 15"/>
          <p:cNvSpPr/>
          <p:nvPr/>
        </p:nvSpPr>
        <p:spPr>
          <a:xfrm>
            <a:off x="548640" y="3931920"/>
            <a:ext cx="64008" cy="777240"/>
          </a:xfrm>
          <a:prstGeom prst="rect">
            <a:avLst/>
          </a:prstGeom>
          <a:solidFill>
            <a:srgbClr val="F59E0B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11480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71600" y="397764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1400" b="1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 RGPD </a:t>
            </a:r>
            <a:endParaRPr lang="fr-FR" sz="1400" noProof="0" dirty="0"/>
          </a:p>
        </p:txBody>
      </p:sp>
      <p:sp>
        <p:nvSpPr>
          <p:cNvPr id="23" name="Text 17"/>
          <p:cNvSpPr/>
          <p:nvPr/>
        </p:nvSpPr>
        <p:spPr>
          <a:xfrm>
            <a:off x="1371600" y="429768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Droit à l'oubli, consentement cookies, suppression en cascade de toutes les données d'un compte. </a:t>
            </a:r>
            <a:endParaRPr lang="fr-FR" sz="1100" noProof="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F9B8E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" name="Text 1"/>
          <p:cNvSpPr/>
          <p:nvPr/>
        </p:nvSpPr>
        <p:spPr>
          <a:xfrm>
            <a:off x="731520" y="320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3600" b="1" noProof="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Solutions apportées</a:t>
            </a:r>
            <a:endParaRPr lang="fr-FR" sz="3600" noProof="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8046720" cy="777240"/>
          </a:xfrm>
          <a:prstGeom prst="rect">
            <a:avLst/>
          </a:prstGeom>
          <a:solidFill>
            <a:srgbClr val="F0F4F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64008" cy="777240"/>
          </a:xfrm>
          <a:prstGeom prst="rect">
            <a:avLst/>
          </a:prstGeom>
          <a:solidFill>
            <a:srgbClr val="0F9B8E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37160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23444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1400" b="1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</a:t>
            </a:r>
            <a:r>
              <a:rPr lang="fr-FR" sz="1400" b="1" noProof="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</a:t>
            </a:r>
            <a:r>
              <a:rPr lang="fr-FR" sz="1400" b="1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Security + fonctions </a:t>
            </a:r>
            <a:r>
              <a:rPr lang="fr-FR" sz="1400" b="1" noProof="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r>
              <a:rPr lang="fr-FR" sz="1400" b="1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fr-FR" sz="1400" b="1" noProof="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definer</a:t>
            </a:r>
            <a:endParaRPr lang="fr-FR" sz="1400" noProof="0" dirty="0"/>
          </a:p>
        </p:txBody>
      </p:sp>
      <p:sp>
        <p:nvSpPr>
          <p:cNvPr id="8" name="Text 5"/>
          <p:cNvSpPr/>
          <p:nvPr/>
        </p:nvSpPr>
        <p:spPr>
          <a:xfrm>
            <a:off x="1371600" y="155448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Politiques RLS sur chaque table + helpers (</a:t>
            </a:r>
            <a:r>
              <a:rPr lang="fr-FR" sz="11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is_project_member</a:t>
            </a:r>
            <a:r>
              <a:rPr lang="fr-FR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()) pour des contrôles au niveau base de données, impossible à contourner. </a:t>
            </a:r>
            <a:endParaRPr lang="fr-FR" sz="1100" noProof="0" dirty="0"/>
          </a:p>
        </p:txBody>
      </p:sp>
      <p:sp>
        <p:nvSpPr>
          <p:cNvPr id="9" name="Shape 6"/>
          <p:cNvSpPr/>
          <p:nvPr/>
        </p:nvSpPr>
        <p:spPr>
          <a:xfrm>
            <a:off x="548640" y="2103120"/>
            <a:ext cx="8046720" cy="777240"/>
          </a:xfrm>
          <a:prstGeom prst="rect">
            <a:avLst/>
          </a:prstGeom>
          <a:solidFill>
            <a:srgbClr val="F0F4F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0" name="Shape 7"/>
          <p:cNvSpPr/>
          <p:nvPr/>
        </p:nvSpPr>
        <p:spPr>
          <a:xfrm>
            <a:off x="548640" y="2103120"/>
            <a:ext cx="64008" cy="777240"/>
          </a:xfrm>
          <a:prstGeom prst="rect">
            <a:avLst/>
          </a:prstGeom>
          <a:solidFill>
            <a:srgbClr val="0F9B8E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28600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371600" y="214884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1400" b="1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Triggers SQL bidirectionnels</a:t>
            </a:r>
            <a:endParaRPr lang="fr-FR" sz="1400" noProof="0" dirty="0"/>
          </a:p>
        </p:txBody>
      </p:sp>
      <p:sp>
        <p:nvSpPr>
          <p:cNvPr id="13" name="Text 9"/>
          <p:cNvSpPr/>
          <p:nvPr/>
        </p:nvSpPr>
        <p:spPr>
          <a:xfrm>
            <a:off x="1371600" y="246888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triggers </a:t>
            </a:r>
            <a:r>
              <a:rPr lang="fr-FR" sz="11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on_task_completed</a:t>
            </a:r>
            <a:r>
              <a:rPr lang="fr-FR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fr-FR" sz="11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on_project_completed</a:t>
            </a:r>
            <a:r>
              <a:rPr lang="fr-FR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gèrent le +XP et le -XP automatiquement selon le sens du changement de statut</a:t>
            </a:r>
            <a:endParaRPr lang="fr-FR" sz="1100" noProof="0" dirty="0"/>
          </a:p>
        </p:txBody>
      </p:sp>
      <p:sp>
        <p:nvSpPr>
          <p:cNvPr id="14" name="Shape 10"/>
          <p:cNvSpPr/>
          <p:nvPr/>
        </p:nvSpPr>
        <p:spPr>
          <a:xfrm>
            <a:off x="548640" y="3017520"/>
            <a:ext cx="8046720" cy="777240"/>
          </a:xfrm>
          <a:prstGeom prst="rect">
            <a:avLst/>
          </a:prstGeom>
          <a:solidFill>
            <a:srgbClr val="F0F4F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5" name="Shape 11"/>
          <p:cNvSpPr/>
          <p:nvPr/>
        </p:nvSpPr>
        <p:spPr>
          <a:xfrm>
            <a:off x="548640" y="3017520"/>
            <a:ext cx="64008" cy="777240"/>
          </a:xfrm>
          <a:prstGeom prst="rect">
            <a:avLst/>
          </a:prstGeom>
          <a:solidFill>
            <a:srgbClr val="0F9B8E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20040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71600" y="306324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1400" b="1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</a:t>
            </a:r>
            <a:r>
              <a:rPr lang="fr-FR" sz="1400" b="1" noProof="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</a:t>
            </a:r>
            <a:r>
              <a:rPr lang="fr-FR" sz="1400" b="1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enrichissement par </a:t>
            </a:r>
            <a:r>
              <a:rPr lang="fr-FR" sz="1400" b="1" noProof="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</a:t>
            </a:r>
            <a:endParaRPr lang="fr-FR" sz="1400" noProof="0" dirty="0"/>
          </a:p>
        </p:txBody>
      </p:sp>
      <p:sp>
        <p:nvSpPr>
          <p:cNvPr id="18" name="Text 13"/>
          <p:cNvSpPr/>
          <p:nvPr/>
        </p:nvSpPr>
        <p:spPr>
          <a:xfrm>
            <a:off x="1371600" y="338328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Requêtes parallèles avec </a:t>
            </a:r>
            <a:r>
              <a:rPr lang="fr-FR" sz="11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Promise.all</a:t>
            </a:r>
            <a:r>
              <a:rPr lang="fr-FR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(), puis jointure côté app via </a:t>
            </a:r>
            <a:r>
              <a:rPr lang="fr-FR" sz="11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</a:t>
            </a:r>
            <a:r>
              <a:rPr lang="fr-FR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&lt;id, profile&gt; pour un O(1) par </a:t>
            </a:r>
            <a:r>
              <a:rPr lang="fr-FR" sz="11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lookup</a:t>
            </a:r>
            <a:r>
              <a:rPr lang="fr-FR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fr-FR" sz="1100" noProof="0" dirty="0"/>
          </a:p>
        </p:txBody>
      </p:sp>
      <p:sp>
        <p:nvSpPr>
          <p:cNvPr id="19" name="Shape 14"/>
          <p:cNvSpPr/>
          <p:nvPr/>
        </p:nvSpPr>
        <p:spPr>
          <a:xfrm>
            <a:off x="548640" y="3931920"/>
            <a:ext cx="8046720" cy="777240"/>
          </a:xfrm>
          <a:prstGeom prst="rect">
            <a:avLst/>
          </a:prstGeom>
          <a:solidFill>
            <a:srgbClr val="F0F4F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20" name="Shape 15"/>
          <p:cNvSpPr/>
          <p:nvPr/>
        </p:nvSpPr>
        <p:spPr>
          <a:xfrm>
            <a:off x="548640" y="3931920"/>
            <a:ext cx="64008" cy="777240"/>
          </a:xfrm>
          <a:prstGeom prst="rect">
            <a:avLst/>
          </a:prstGeom>
          <a:solidFill>
            <a:srgbClr val="0F9B8E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411480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371600" y="397764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1400" b="1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Suppression en cascade + cookie consent</a:t>
            </a:r>
            <a:endParaRPr lang="fr-FR" sz="1400" noProof="0" dirty="0"/>
          </a:p>
        </p:txBody>
      </p:sp>
      <p:sp>
        <p:nvSpPr>
          <p:cNvPr id="23" name="Text 17"/>
          <p:cNvSpPr/>
          <p:nvPr/>
        </p:nvSpPr>
        <p:spPr>
          <a:xfrm>
            <a:off x="1371600" y="429768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fr-FR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DELETE CASCADE sur toutes les tables liées à </a:t>
            </a:r>
            <a:r>
              <a:rPr lang="fr-FR" sz="11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auth.users</a:t>
            </a:r>
            <a:r>
              <a:rPr lang="fr-FR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bandeau de consentement cookies conforme.</a:t>
            </a:r>
            <a:endParaRPr lang="fr-FR" sz="1100" noProof="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3600" b="1" noProof="0" dirty="0" err="1">
                <a:solidFill>
                  <a:srgbClr val="14C4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Features</a:t>
            </a:r>
            <a:r>
              <a:rPr lang="fr-FR" sz="3600" b="1" noProof="0" dirty="0">
                <a:solidFill>
                  <a:srgbClr val="14C4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bonus</a:t>
            </a:r>
            <a:endParaRPr lang="fr-FR" sz="3600" noProof="0" dirty="0"/>
          </a:p>
        </p:txBody>
      </p:sp>
      <p:sp>
        <p:nvSpPr>
          <p:cNvPr id="3" name="Shape 1"/>
          <p:cNvSpPr/>
          <p:nvPr/>
        </p:nvSpPr>
        <p:spPr>
          <a:xfrm>
            <a:off x="548640" y="1188720"/>
            <a:ext cx="3840480" cy="1463040"/>
          </a:xfrm>
          <a:prstGeom prst="rect">
            <a:avLst/>
          </a:prstGeom>
          <a:solidFill>
            <a:srgbClr val="16213E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3840480" cy="54864"/>
          </a:xfrm>
          <a:prstGeom prst="rect">
            <a:avLst/>
          </a:prstGeom>
          <a:solidFill>
            <a:srgbClr val="14C4B0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41732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3716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500" b="1" noProof="0" dirty="0">
                <a:solidFill>
                  <a:srgbClr val="14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Gamification</a:t>
            </a:r>
            <a:endParaRPr lang="fr-FR" sz="1500" noProof="0" dirty="0"/>
          </a:p>
        </p:txBody>
      </p:sp>
      <p:sp>
        <p:nvSpPr>
          <p:cNvPr id="7" name="Text 4"/>
          <p:cNvSpPr/>
          <p:nvPr/>
        </p:nvSpPr>
        <p:spPr>
          <a:xfrm>
            <a:off x="1280160" y="178308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fr-FR" sz="11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Système d'XP (10/tâche, 50/projet), niveaux de Débutant à Expert, barre de progression dans le header.</a:t>
            </a:r>
            <a:endParaRPr lang="fr-FR" sz="1100" noProof="0" dirty="0"/>
          </a:p>
        </p:txBody>
      </p:sp>
      <p:sp>
        <p:nvSpPr>
          <p:cNvPr id="8" name="Shape 5"/>
          <p:cNvSpPr/>
          <p:nvPr/>
        </p:nvSpPr>
        <p:spPr>
          <a:xfrm>
            <a:off x="4663440" y="1188720"/>
            <a:ext cx="3840480" cy="1463040"/>
          </a:xfrm>
          <a:prstGeom prst="rect">
            <a:avLst/>
          </a:prstGeom>
          <a:solidFill>
            <a:srgbClr val="16213E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9" name="Shape 6"/>
          <p:cNvSpPr/>
          <p:nvPr/>
        </p:nvSpPr>
        <p:spPr>
          <a:xfrm>
            <a:off x="4663440" y="1188720"/>
            <a:ext cx="3840480" cy="54864"/>
          </a:xfrm>
          <a:prstGeom prst="rect">
            <a:avLst/>
          </a:prstGeom>
          <a:solidFill>
            <a:srgbClr val="14C4B0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6320" y="141732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94960" y="13716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500" b="1" noProof="0" dirty="0" err="1">
                <a:solidFill>
                  <a:srgbClr val="14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</a:t>
            </a:r>
            <a:r>
              <a:rPr lang="fr-FR" sz="1500" b="1" noProof="0" dirty="0">
                <a:solidFill>
                  <a:srgbClr val="14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Mode</a:t>
            </a:r>
            <a:endParaRPr lang="fr-FR" sz="1500" noProof="0" dirty="0"/>
          </a:p>
        </p:txBody>
      </p:sp>
      <p:sp>
        <p:nvSpPr>
          <p:cNvPr id="12" name="Text 8"/>
          <p:cNvSpPr/>
          <p:nvPr/>
        </p:nvSpPr>
        <p:spPr>
          <a:xfrm>
            <a:off x="5394960" y="178308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fr-FR" sz="11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Thème clair/sombre avec détection automatique des préférences système.</a:t>
            </a:r>
            <a:endParaRPr lang="fr-FR" sz="1100" noProof="0" dirty="0"/>
          </a:p>
        </p:txBody>
      </p:sp>
      <p:sp>
        <p:nvSpPr>
          <p:cNvPr id="13" name="Shape 9"/>
          <p:cNvSpPr/>
          <p:nvPr/>
        </p:nvSpPr>
        <p:spPr>
          <a:xfrm>
            <a:off x="548640" y="2926080"/>
            <a:ext cx="3840480" cy="1463040"/>
          </a:xfrm>
          <a:prstGeom prst="rect">
            <a:avLst/>
          </a:prstGeom>
          <a:solidFill>
            <a:srgbClr val="16213E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4" name="Shape 10"/>
          <p:cNvSpPr/>
          <p:nvPr/>
        </p:nvSpPr>
        <p:spPr>
          <a:xfrm>
            <a:off x="548640" y="2926080"/>
            <a:ext cx="3840480" cy="54864"/>
          </a:xfrm>
          <a:prstGeom prst="rect">
            <a:avLst/>
          </a:prstGeom>
          <a:solidFill>
            <a:srgbClr val="14C4B0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154680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80160" y="31089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500" b="1" noProof="0" dirty="0">
                <a:solidFill>
                  <a:srgbClr val="14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RGPD &amp; Sécurité</a:t>
            </a:r>
            <a:endParaRPr lang="fr-FR" sz="1500" noProof="0" dirty="0"/>
          </a:p>
        </p:txBody>
      </p:sp>
      <p:sp>
        <p:nvSpPr>
          <p:cNvPr id="17" name="Text 12"/>
          <p:cNvSpPr/>
          <p:nvPr/>
        </p:nvSpPr>
        <p:spPr>
          <a:xfrm>
            <a:off x="1280160" y="352044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fr-FR" sz="11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des données, suppression de compte, RLS </a:t>
            </a:r>
            <a:r>
              <a:rPr lang="fr-FR" sz="1100" noProof="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r>
              <a:rPr lang="fr-FR" sz="11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pour l'isolation des données.</a:t>
            </a:r>
            <a:endParaRPr lang="fr-FR" sz="1100" noProof="0" dirty="0"/>
          </a:p>
        </p:txBody>
      </p:sp>
      <p:sp>
        <p:nvSpPr>
          <p:cNvPr id="18" name="Shape 13"/>
          <p:cNvSpPr/>
          <p:nvPr/>
        </p:nvSpPr>
        <p:spPr>
          <a:xfrm>
            <a:off x="4663440" y="2926080"/>
            <a:ext cx="3840480" cy="1463040"/>
          </a:xfrm>
          <a:prstGeom prst="rect">
            <a:avLst/>
          </a:prstGeom>
          <a:solidFill>
            <a:srgbClr val="16213E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9" name="Shape 14"/>
          <p:cNvSpPr/>
          <p:nvPr/>
        </p:nvSpPr>
        <p:spPr>
          <a:xfrm>
            <a:off x="4663440" y="2926080"/>
            <a:ext cx="3840480" cy="54864"/>
          </a:xfrm>
          <a:prstGeom prst="rect">
            <a:avLst/>
          </a:prstGeom>
          <a:solidFill>
            <a:srgbClr val="14C4B0"/>
          </a:solidFill>
          <a:ln/>
        </p:spPr>
        <p:txBody>
          <a:bodyPr/>
          <a:lstStyle/>
          <a:p>
            <a:endParaRPr lang="fr-FR" noProof="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3154680"/>
            <a:ext cx="411480" cy="4114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394960" y="31089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1500" b="1" noProof="0" dirty="0">
                <a:solidFill>
                  <a:srgbClr val="14C4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avancé</a:t>
            </a:r>
            <a:endParaRPr lang="fr-FR" sz="1500" noProof="0" dirty="0"/>
          </a:p>
        </p:txBody>
      </p:sp>
      <p:sp>
        <p:nvSpPr>
          <p:cNvPr id="22" name="Text 16"/>
          <p:cNvSpPr/>
          <p:nvPr/>
        </p:nvSpPr>
        <p:spPr>
          <a:xfrm>
            <a:off x="5394960" y="3520440"/>
            <a:ext cx="2926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fr-FR" sz="11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</a:t>
            </a:r>
            <a:r>
              <a:rPr lang="fr-FR" sz="1100" noProof="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r>
              <a:rPr lang="fr-FR" sz="11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3 prompts (standup, rétro, </a:t>
            </a:r>
            <a:r>
              <a:rPr lang="fr-FR" sz="1100" noProof="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r>
              <a:rPr lang="fr-FR" sz="11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breakdown), 1 </a:t>
            </a:r>
            <a:r>
              <a:rPr lang="fr-FR" sz="1100" noProof="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</a:t>
            </a:r>
            <a:r>
              <a:rPr lang="fr-FR" sz="11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bien au-delà du socle.</a:t>
            </a:r>
            <a:endParaRPr lang="fr-FR" sz="1100" noProof="0" dirty="0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06240" y="4572000"/>
            <a:ext cx="320040" cy="32004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48640" y="45720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fr-FR" sz="11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Au-delà du cahier des charges</a:t>
            </a:r>
            <a:endParaRPr lang="fr-FR" sz="1100" noProof="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F9B8E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" name="Text 1"/>
          <p:cNvSpPr/>
          <p:nvPr/>
        </p:nvSpPr>
        <p:spPr>
          <a:xfrm>
            <a:off x="731520" y="32004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fr-FR" sz="3600" b="1" noProof="0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Avenir du projet</a:t>
            </a:r>
            <a:endParaRPr lang="fr-FR" sz="3600" noProof="0" dirty="0"/>
          </a:p>
        </p:txBody>
      </p:sp>
      <p:sp>
        <p:nvSpPr>
          <p:cNvPr id="4" name="Shape 2"/>
          <p:cNvSpPr/>
          <p:nvPr/>
        </p:nvSpPr>
        <p:spPr>
          <a:xfrm>
            <a:off x="3154680" y="1554480"/>
            <a:ext cx="228600" cy="0"/>
          </a:xfrm>
          <a:prstGeom prst="line">
            <a:avLst/>
          </a:prstGeom>
          <a:noFill/>
          <a:ln w="25400">
            <a:solidFill>
              <a:srgbClr val="0F9B8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2606040" cy="3108960"/>
          </a:xfrm>
          <a:prstGeom prst="rect">
            <a:avLst/>
          </a:prstGeom>
          <a:solidFill>
            <a:srgbClr val="F0F4F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2606040" cy="502920"/>
          </a:xfrm>
          <a:prstGeom prst="rect">
            <a:avLst/>
          </a:prstGeom>
          <a:solidFill>
            <a:srgbClr val="0F9B8E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7" name="Text 5"/>
          <p:cNvSpPr/>
          <p:nvPr/>
        </p:nvSpPr>
        <p:spPr>
          <a:xfrm>
            <a:off x="548640" y="128016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5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Court terme</a:t>
            </a:r>
            <a:endParaRPr lang="fr-FR" sz="1500" noProof="0" dirty="0"/>
          </a:p>
        </p:txBody>
      </p:sp>
      <p:sp>
        <p:nvSpPr>
          <p:cNvPr id="8" name="Text 6"/>
          <p:cNvSpPr/>
          <p:nvPr/>
        </p:nvSpPr>
        <p:spPr>
          <a:xfrm>
            <a:off x="731520" y="1965960"/>
            <a:ext cx="22402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fr-FR" sz="1200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push</a:t>
            </a:r>
            <a:endParaRPr lang="fr-FR" sz="1200" noProof="0" dirty="0"/>
          </a:p>
          <a:p>
            <a:pPr marL="0" indent="0">
              <a:lnSpc>
                <a:spcPct val="160000"/>
              </a:lnSpc>
              <a:buNone/>
            </a:pPr>
            <a:r>
              <a:rPr lang="fr-FR" sz="1200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Git (</a:t>
            </a:r>
            <a:r>
              <a:rPr lang="fr-FR" sz="1200" noProof="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webhooks</a:t>
            </a:r>
            <a:r>
              <a:rPr lang="fr-FR" sz="1200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fr-FR" sz="1200" noProof="0" dirty="0"/>
          </a:p>
          <a:p>
            <a:pPr marL="0" indent="0">
              <a:lnSpc>
                <a:spcPct val="160000"/>
              </a:lnSpc>
              <a:buNone/>
            </a:pPr>
            <a:r>
              <a:rPr lang="fr-FR" sz="1200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mobile complet</a:t>
            </a:r>
            <a:endParaRPr lang="fr-FR" sz="1200" noProof="0" dirty="0"/>
          </a:p>
        </p:txBody>
      </p:sp>
      <p:sp>
        <p:nvSpPr>
          <p:cNvPr id="9" name="Shape 7"/>
          <p:cNvSpPr/>
          <p:nvPr/>
        </p:nvSpPr>
        <p:spPr>
          <a:xfrm>
            <a:off x="5989320" y="1554480"/>
            <a:ext cx="228600" cy="0"/>
          </a:xfrm>
          <a:prstGeom prst="line">
            <a:avLst/>
          </a:prstGeom>
          <a:noFill/>
          <a:ln w="25400">
            <a:solidFill>
              <a:srgbClr val="0F9B8E"/>
            </a:solidFill>
            <a:prstDash val="solid"/>
          </a:ln>
        </p:spPr>
        <p:txBody>
          <a:bodyPr/>
          <a:lstStyle/>
          <a:p>
            <a:endParaRPr lang="fr-FR" noProof="0" dirty="0"/>
          </a:p>
        </p:txBody>
      </p:sp>
      <p:sp>
        <p:nvSpPr>
          <p:cNvPr id="10" name="Shape 8"/>
          <p:cNvSpPr/>
          <p:nvPr/>
        </p:nvSpPr>
        <p:spPr>
          <a:xfrm>
            <a:off x="3383280" y="1280160"/>
            <a:ext cx="2606040" cy="3108960"/>
          </a:xfrm>
          <a:prstGeom prst="rect">
            <a:avLst/>
          </a:prstGeom>
          <a:solidFill>
            <a:srgbClr val="F0F4F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1" name="Shape 9"/>
          <p:cNvSpPr/>
          <p:nvPr/>
        </p:nvSpPr>
        <p:spPr>
          <a:xfrm>
            <a:off x="3383280" y="1280160"/>
            <a:ext cx="2606040" cy="502920"/>
          </a:xfrm>
          <a:prstGeom prst="rect">
            <a:avLst/>
          </a:prstGeom>
          <a:solidFill>
            <a:srgbClr val="0F9B8E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2" name="Text 10"/>
          <p:cNvSpPr/>
          <p:nvPr/>
        </p:nvSpPr>
        <p:spPr>
          <a:xfrm>
            <a:off x="3383280" y="128016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5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Moyen terme</a:t>
            </a:r>
            <a:endParaRPr lang="fr-FR" sz="1500" noProof="0" dirty="0"/>
          </a:p>
        </p:txBody>
      </p:sp>
      <p:sp>
        <p:nvSpPr>
          <p:cNvPr id="13" name="Text 11"/>
          <p:cNvSpPr/>
          <p:nvPr/>
        </p:nvSpPr>
        <p:spPr>
          <a:xfrm>
            <a:off x="3566160" y="1965960"/>
            <a:ext cx="22402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fr-FR" sz="1200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Gantt / Timeline</a:t>
            </a:r>
            <a:endParaRPr lang="fr-FR" sz="1200" noProof="0" dirty="0"/>
          </a:p>
          <a:p>
            <a:pPr marL="0" indent="0">
              <a:lnSpc>
                <a:spcPct val="160000"/>
              </a:lnSpc>
              <a:buNone/>
            </a:pPr>
            <a:r>
              <a:rPr lang="fr-FR" sz="1200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Rétrospectives intégrées</a:t>
            </a:r>
            <a:endParaRPr lang="fr-FR" sz="1200" noProof="0" dirty="0"/>
          </a:p>
        </p:txBody>
      </p:sp>
      <p:sp>
        <p:nvSpPr>
          <p:cNvPr id="14" name="Shape 12"/>
          <p:cNvSpPr/>
          <p:nvPr/>
        </p:nvSpPr>
        <p:spPr>
          <a:xfrm>
            <a:off x="6217920" y="1280160"/>
            <a:ext cx="2606040" cy="3108960"/>
          </a:xfrm>
          <a:prstGeom prst="rect">
            <a:avLst/>
          </a:prstGeom>
          <a:solidFill>
            <a:srgbClr val="F0F4F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 noProof="0" dirty="0"/>
          </a:p>
        </p:txBody>
      </p:sp>
      <p:sp>
        <p:nvSpPr>
          <p:cNvPr id="15" name="Shape 13"/>
          <p:cNvSpPr/>
          <p:nvPr/>
        </p:nvSpPr>
        <p:spPr>
          <a:xfrm>
            <a:off x="6217920" y="1280160"/>
            <a:ext cx="2606040" cy="502920"/>
          </a:xfrm>
          <a:prstGeom prst="rect">
            <a:avLst/>
          </a:prstGeom>
          <a:solidFill>
            <a:srgbClr val="0F9B8E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16" name="Text 14"/>
          <p:cNvSpPr/>
          <p:nvPr/>
        </p:nvSpPr>
        <p:spPr>
          <a:xfrm>
            <a:off x="6217920" y="128016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5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Long terme</a:t>
            </a:r>
            <a:endParaRPr lang="fr-FR" sz="1500" noProof="0" dirty="0"/>
          </a:p>
        </p:txBody>
      </p:sp>
      <p:sp>
        <p:nvSpPr>
          <p:cNvPr id="17" name="Text 15"/>
          <p:cNvSpPr/>
          <p:nvPr/>
        </p:nvSpPr>
        <p:spPr>
          <a:xfrm>
            <a:off x="6400800" y="1965960"/>
            <a:ext cx="22402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fr-FR" sz="1200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de plugins MCP</a:t>
            </a:r>
            <a:endParaRPr lang="fr-FR" sz="1200" noProof="0" dirty="0"/>
          </a:p>
          <a:p>
            <a:pPr marL="0" indent="0">
              <a:lnSpc>
                <a:spcPct val="160000"/>
              </a:lnSpc>
              <a:buNone/>
            </a:pPr>
            <a:r>
              <a:rPr lang="fr-FR" sz="1200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prédictive (risques de retard)</a:t>
            </a:r>
            <a:endParaRPr lang="fr-FR" sz="1200" noProof="0" dirty="0"/>
          </a:p>
          <a:p>
            <a:pPr marL="0" indent="0">
              <a:lnSpc>
                <a:spcPct val="160000"/>
              </a:lnSpc>
              <a:buNone/>
            </a:pPr>
            <a:r>
              <a:rPr lang="fr-FR" sz="1200" noProof="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Déploiement SaaS pour </a:t>
            </a:r>
            <a:r>
              <a:rPr lang="fr-FR" sz="1200" noProof="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Ynov</a:t>
            </a:r>
            <a:endParaRPr lang="fr-FR" sz="1200" noProof="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0F9B8E"/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3" name="Shape 1"/>
          <p:cNvSpPr/>
          <p:nvPr/>
        </p:nvSpPr>
        <p:spPr>
          <a:xfrm>
            <a:off x="5943600" y="0"/>
            <a:ext cx="320040" cy="5143500"/>
          </a:xfrm>
          <a:prstGeom prst="rect">
            <a:avLst/>
          </a:prstGeom>
          <a:solidFill>
            <a:srgbClr val="14C4B0">
              <a:alpha val="60000"/>
            </a:srgbClr>
          </a:solidFill>
          <a:ln/>
        </p:spPr>
        <p:txBody>
          <a:bodyPr/>
          <a:lstStyle/>
          <a:p>
            <a:endParaRPr lang="fr-FR" noProof="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029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6000" b="1" noProof="0" dirty="0">
                <a:solidFill>
                  <a:srgbClr val="14C4B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Merci !</a:t>
            </a:r>
            <a:endParaRPr lang="fr-FR" sz="6000" noProof="0" dirty="0"/>
          </a:p>
        </p:txBody>
      </p:sp>
      <p:sp>
        <p:nvSpPr>
          <p:cNvPr id="5" name="Text 3"/>
          <p:cNvSpPr/>
          <p:nvPr/>
        </p:nvSpPr>
        <p:spPr>
          <a:xfrm>
            <a:off x="731520" y="228600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fr-FR" sz="1500" noProof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Grâce à notre solution, la vue du pilotage d’un projet devient optionnel, tout peut passer par un chat en langage naturel, plus adapté pour des étudiants en projet.</a:t>
            </a:r>
            <a:endParaRPr lang="fr-FR" sz="1500" noProof="0" dirty="0"/>
          </a:p>
        </p:txBody>
      </p:sp>
      <p:sp>
        <p:nvSpPr>
          <p:cNvPr id="6" name="Text 4"/>
          <p:cNvSpPr/>
          <p:nvPr/>
        </p:nvSpPr>
        <p:spPr>
          <a:xfrm>
            <a:off x="731520" y="3657600"/>
            <a:ext cx="5029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2000" b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 questions ?</a:t>
            </a:r>
            <a:endParaRPr lang="fr-FR" sz="2000" noProof="0" dirty="0"/>
          </a:p>
        </p:txBody>
      </p:sp>
      <p:sp>
        <p:nvSpPr>
          <p:cNvPr id="7" name="Text 5"/>
          <p:cNvSpPr/>
          <p:nvPr/>
        </p:nvSpPr>
        <p:spPr>
          <a:xfrm>
            <a:off x="731520" y="429768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fr-FR" sz="12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Nathan • </a:t>
            </a:r>
            <a:r>
              <a:rPr lang="fr-FR" sz="1200" noProof="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Tyfenn</a:t>
            </a:r>
            <a:r>
              <a:rPr lang="fr-FR" sz="1200" noProof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• Aimeric • Enzo</a:t>
            </a:r>
            <a:endParaRPr lang="fr-FR" sz="1200" noProof="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2011680"/>
            <a:ext cx="822960" cy="8229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0" y="3200400"/>
            <a:ext cx="25603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2800" b="1" noProof="0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Wip</a:t>
            </a:r>
            <a:r>
              <a:rPr lang="fr-FR" sz="2800" b="1" noProof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.</a:t>
            </a:r>
            <a:endParaRPr lang="fr-FR" sz="2800" noProof="0" dirty="0"/>
          </a:p>
        </p:txBody>
      </p:sp>
      <p:sp>
        <p:nvSpPr>
          <p:cNvPr id="10" name="Text 7"/>
          <p:cNvSpPr/>
          <p:nvPr/>
        </p:nvSpPr>
        <p:spPr>
          <a:xfrm>
            <a:off x="6400800" y="38404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fr-FR" sz="1100" i="1" noProof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in Progress</a:t>
            </a:r>
            <a:endParaRPr lang="fr-FR" sz="1100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1296</Words>
  <Application>Microsoft Office PowerPoint</Application>
  <PresentationFormat>Affichage à l'écran (16:9)</PresentationFormat>
  <Paragraphs>184</Paragraphs>
  <Slides>17</Slides>
  <Notes>16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17</vt:i4>
      </vt:variant>
    </vt:vector>
  </HeadingPairs>
  <TitlesOfParts>
    <vt:vector size="21" baseType="lpstr">
      <vt:lpstr>Arial</vt:lpstr>
      <vt:lpstr>Calibri</vt:lpstr>
      <vt:lpstr>Trebuchet MS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Wip. — Challenge 48H</dc:title>
  <dc:subject>PptxGenJS Presentation</dc:subject>
  <dc:creator>Equipe Wip.</dc:creator>
  <cp:lastModifiedBy>WALTER Nathan</cp:lastModifiedBy>
  <cp:revision>4</cp:revision>
  <dcterms:created xsi:type="dcterms:W3CDTF">2026-03-31T09:36:44Z</dcterms:created>
  <dcterms:modified xsi:type="dcterms:W3CDTF">2026-03-31T12:19:00Z</dcterms:modified>
</cp:coreProperties>
</file>